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9144000" cy="16256000"/>
  <p:embeddedFontLst>
    <p:embeddedFont>
      <p:font typeface="Li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26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440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70000" y="-1016000"/>
            <a:ext cx="6350000" cy="6350000"/>
          </a:xfrm>
          <a:prstGeom prst="ellipse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0B102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5334000"/>
            <a:ext cx="6350000" cy="6350000"/>
          </a:xfrm>
          <a:prstGeom prst="ellipse">
            <a:avLst/>
          </a:prstGeom>
          <a:gradFill flip="none" rotWithShape="1">
            <a:gsLst>
              <a:gs pos="0">
                <a:srgbClr val="38BDF8"/>
              </a:gs>
              <a:gs pos="100000">
                <a:srgbClr val="0B1020">
                  <a:alpha val="0"/>
                </a:srgbClr>
              </a:gs>
            </a:gsLst>
            <a:path path="circle"/>
          </a:gradFill>
          <a:ln/>
        </p:spPr>
      </p:sp>
      <p:pic>
        <p:nvPicPr>
          <p:cNvPr id="4" name="Image 0" descr="https://kimi-img.moonshot.cn/pub/slides/okc/k33yuzdi4iity/mnt/agents/output/quorix/images/5_3_562_524_Digital_Network_Background.png"/>
          <p:cNvPicPr>
            <a:picLocks noChangeAspect="1"/>
          </p:cNvPicPr>
          <p:nvPr/>
        </p:nvPicPr>
        <p:blipFill>
          <a:blip r:embed="rId3">
            <a:alphaModFix amt="25000"/>
          </a:blip>
          <a:srcRect l="10296" r="1029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B1020">
                  <a:alpha val="90000"/>
                </a:srgbClr>
              </a:gs>
              <a:gs pos="50000">
                <a:srgbClr val="0B1020">
                  <a:alpha val="70000"/>
                </a:srgbClr>
              </a:gs>
              <a:gs pos="100000">
                <a:srgbClr val="0B1020">
                  <a:alpha val="90000"/>
                </a:srgbClr>
              </a:gs>
            </a:gsLst>
            <a:lin ang="5400000" scaled="1"/>
          </a:gradFill>
          <a:ln/>
        </p:spPr>
      </p:sp>
      <p:sp>
        <p:nvSpPr>
          <p:cNvPr id="6" name="Shape 3"/>
          <p:cNvSpPr/>
          <p:nvPr/>
        </p:nvSpPr>
        <p:spPr>
          <a:xfrm>
            <a:off x="6858000" y="0"/>
            <a:ext cx="2540000" cy="38100"/>
          </a:xfrm>
          <a:prstGeom prst="rect">
            <a:avLst/>
          </a:prstGeom>
          <a:gradFill flip="none" rotWithShape="1">
            <a:gsLst>
              <a:gs pos="0">
                <a:srgbClr val="2563EB">
                  <a:alpha val="0"/>
                </a:srgbClr>
              </a:gs>
              <a:gs pos="50000">
                <a:srgbClr val="2563EB"/>
              </a:gs>
              <a:gs pos="100000">
                <a:srgbClr val="2563EB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5588000" y="2349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2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AI-ASSISTED PROCUREMENT INTELLIGENCE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48000" y="2730500"/>
            <a:ext cx="1016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200" kern="0" spc="600" dirty="0">
                <a:gradFill flip="none" rotWithShape="1">
                  <a:gsLst>
                    <a:gs pos="0">
                      <a:srgbClr val="2563EB"/>
                    </a:gs>
                    <a:gs pos="100000">
                      <a:srgbClr val="38BDF8"/>
                    </a:gs>
                  </a:gsLst>
                  <a:lin ang="5400000" scaled="1"/>
                </a:gradFill>
                <a:latin typeface="Liter" pitchFamily="34" charset="0"/>
                <a:ea typeface="Liter" pitchFamily="34" charset="-122"/>
                <a:cs typeface="Liter" pitchFamily="34" charset="-120"/>
              </a:rPr>
              <a:t>QUORIX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3048000" y="4000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kern="0" spc="1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Decision Intelligence for Transparent &amp; Defensible Procurement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493000" y="4762500"/>
            <a:ext cx="1270000" cy="25400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588000" y="5143500"/>
            <a:ext cx="5080000" cy="1593631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dash"/>
          </a:ln>
          <a:effectLst>
            <a:outerShdw blurRad="381000" dist="50800" dir="2700000" algn="bl" rotWithShape="0">
              <a:srgbClr val="38BDF8">
                <a:alpha val="12549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23000" y="5778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588000" y="762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Created by </a:t>
            </a:r>
            <a:r>
              <a:rPr lang="en-US" sz="1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Riya Chauhan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588000" y="8064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riyachauhan2608@gmail.com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113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/ 11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4637898-5E51-7AE6-AE51-FE6FF40E5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679" y="5334000"/>
            <a:ext cx="4876641" cy="108981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-1270000"/>
            <a:ext cx="8890000" cy="5080000"/>
          </a:xfrm>
          <a:prstGeom prst="ellipse">
            <a:avLst/>
          </a:prstGeom>
          <a:gradFill flip="none" rotWithShape="1">
            <a:gsLst>
              <a:gs pos="0">
                <a:srgbClr val="EF4444">
                  <a:alpha val="8000"/>
                </a:srgbClr>
              </a:gs>
              <a:gs pos="100000">
                <a:srgbClr val="0B102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98500"/>
            <a:ext cx="50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7620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PROCUREMENT CRISIS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127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procurement systems are broken. Here's the data.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3302000" cy="27940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2413000"/>
            <a:ext cx="279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2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30-45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016000" y="3365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kern="0" spc="1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MINUTES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16000" y="3810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 bidder evaluation time spent manually reviewing documents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45000" y="2032000"/>
            <a:ext cx="3302000" cy="27940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9000" y="2413000"/>
            <a:ext cx="279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2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100+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699000" y="3365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kern="0" spc="1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VENDORS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99000" y="3810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Vendor submissions evaluated manually per procurement cycle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0" y="2032000"/>
            <a:ext cx="3302000" cy="27940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2000" y="2413000"/>
            <a:ext cx="279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2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382000" y="3365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kern="0" spc="1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TRAIL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82000" y="3810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Defensible decision records for governance compliance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811000" y="2032000"/>
            <a:ext cx="3302000" cy="27940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65000" y="2413000"/>
            <a:ext cx="279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2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12065000" y="3365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kern="0" spc="100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065000" y="3810000"/>
            <a:ext cx="279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 risk from inconsistent and biased evaluations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2000" y="5334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9500" y="558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68585" y="0"/>
                  <a:pt x="281980" y="8037"/>
                  <a:pt x="288925" y="20836"/>
                </a:cubicBezTo>
                <a:lnTo>
                  <a:pt x="503238" y="417711"/>
                </a:lnTo>
                <a:cubicBezTo>
                  <a:pt x="509885" y="430014"/>
                  <a:pt x="509588" y="444897"/>
                  <a:pt x="502444" y="456902"/>
                </a:cubicBezTo>
                <a:cubicBezTo>
                  <a:pt x="495300" y="468908"/>
                  <a:pt x="482302" y="476250"/>
                  <a:pt x="468313" y="476250"/>
                </a:cubicBezTo>
                <a:lnTo>
                  <a:pt x="39688" y="476250"/>
                </a:lnTo>
                <a:cubicBezTo>
                  <a:pt x="25698" y="476250"/>
                  <a:pt x="12799" y="468908"/>
                  <a:pt x="5556" y="456902"/>
                </a:cubicBezTo>
                <a:cubicBezTo>
                  <a:pt x="-1687" y="444897"/>
                  <a:pt x="-1885" y="430014"/>
                  <a:pt x="4763" y="417711"/>
                </a:cubicBezTo>
                <a:lnTo>
                  <a:pt x="219075" y="20836"/>
                </a:lnTo>
                <a:cubicBezTo>
                  <a:pt x="226020" y="8037"/>
                  <a:pt x="239415" y="0"/>
                  <a:pt x="254000" y="0"/>
                </a:cubicBezTo>
                <a:close/>
                <a:moveTo>
                  <a:pt x="254000" y="166688"/>
                </a:moveTo>
                <a:cubicBezTo>
                  <a:pt x="240804" y="166688"/>
                  <a:pt x="230188" y="177304"/>
                  <a:pt x="230188" y="190500"/>
                </a:cubicBezTo>
                <a:lnTo>
                  <a:pt x="230188" y="301625"/>
                </a:lnTo>
                <a:cubicBezTo>
                  <a:pt x="230188" y="314821"/>
                  <a:pt x="240804" y="325438"/>
                  <a:pt x="254000" y="325438"/>
                </a:cubicBezTo>
                <a:cubicBezTo>
                  <a:pt x="267196" y="325438"/>
                  <a:pt x="277813" y="314821"/>
                  <a:pt x="277813" y="301625"/>
                </a:cubicBezTo>
                <a:lnTo>
                  <a:pt x="277813" y="190500"/>
                </a:lnTo>
                <a:cubicBezTo>
                  <a:pt x="277813" y="177304"/>
                  <a:pt x="267196" y="166688"/>
                  <a:pt x="254000" y="166688"/>
                </a:cubicBezTo>
                <a:close/>
                <a:moveTo>
                  <a:pt x="280491" y="381000"/>
                </a:moveTo>
                <a:cubicBezTo>
                  <a:pt x="281094" y="371167"/>
                  <a:pt x="276190" y="361811"/>
                  <a:pt x="267761" y="356712"/>
                </a:cubicBezTo>
                <a:cubicBezTo>
                  <a:pt x="259331" y="351613"/>
                  <a:pt x="248768" y="351613"/>
                  <a:pt x="240339" y="356712"/>
                </a:cubicBezTo>
                <a:cubicBezTo>
                  <a:pt x="231909" y="361811"/>
                  <a:pt x="227005" y="371167"/>
                  <a:pt x="227608" y="381000"/>
                </a:cubicBezTo>
                <a:cubicBezTo>
                  <a:pt x="227005" y="390833"/>
                  <a:pt x="231909" y="400189"/>
                  <a:pt x="240339" y="405288"/>
                </a:cubicBezTo>
                <a:cubicBezTo>
                  <a:pt x="248768" y="410387"/>
                  <a:pt x="259331" y="410387"/>
                  <a:pt x="267761" y="405288"/>
                </a:cubicBezTo>
                <a:cubicBezTo>
                  <a:pt x="276190" y="400189"/>
                  <a:pt x="281094" y="390833"/>
                  <a:pt x="280491" y="3810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1841500" y="53975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Procurement officers manually evaluate vendors in spreadsheets, review </a:t>
            </a:r>
            <a:r>
              <a:rPr lang="en-US" sz="1800" b="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hundreds of document pages</a:t>
            </a:r>
            <a:r>
              <a:rPr lang="en-US" sz="18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compare vendors inconsistently, and struggle to justify decisions to auditors.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67310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9500" y="704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1651000" y="6921500"/>
            <a:ext cx="355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Procurement Delays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processes slow down every decision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778500" y="67310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51550" y="7048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361017" y="43339"/>
                </a:moveTo>
                <a:cubicBezTo>
                  <a:pt x="372685" y="39449"/>
                  <a:pt x="378936" y="26878"/>
                  <a:pt x="375047" y="15210"/>
                </a:cubicBezTo>
                <a:cubicBezTo>
                  <a:pt x="371158" y="3542"/>
                  <a:pt x="358586" y="-2709"/>
                  <a:pt x="346988" y="1111"/>
                </a:cubicBezTo>
                <a:lnTo>
                  <a:pt x="268506" y="27295"/>
                </a:lnTo>
                <a:cubicBezTo>
                  <a:pt x="258852" y="10974"/>
                  <a:pt x="241002" y="0"/>
                  <a:pt x="220653" y="0"/>
                </a:cubicBezTo>
                <a:cubicBezTo>
                  <a:pt x="189954" y="0"/>
                  <a:pt x="165090" y="24864"/>
                  <a:pt x="165090" y="55563"/>
                </a:cubicBezTo>
                <a:cubicBezTo>
                  <a:pt x="165090" y="57646"/>
                  <a:pt x="165229" y="59660"/>
                  <a:pt x="165437" y="61674"/>
                </a:cubicBezTo>
                <a:lnTo>
                  <a:pt x="80288" y="90011"/>
                </a:lnTo>
                <a:cubicBezTo>
                  <a:pt x="68620" y="93901"/>
                  <a:pt x="62369" y="106472"/>
                  <a:pt x="66258" y="118140"/>
                </a:cubicBezTo>
                <a:cubicBezTo>
                  <a:pt x="70148" y="129808"/>
                  <a:pt x="82719" y="136059"/>
                  <a:pt x="94387" y="132169"/>
                </a:cubicBezTo>
                <a:lnTo>
                  <a:pt x="188496" y="100776"/>
                </a:lnTo>
                <a:cubicBezTo>
                  <a:pt x="191621" y="102999"/>
                  <a:pt x="194955" y="104874"/>
                  <a:pt x="198497" y="106472"/>
                </a:cubicBezTo>
                <a:lnTo>
                  <a:pt x="198497" y="333375"/>
                </a:lnTo>
                <a:cubicBezTo>
                  <a:pt x="198497" y="345668"/>
                  <a:pt x="208429" y="355600"/>
                  <a:pt x="220722" y="355600"/>
                </a:cubicBezTo>
                <a:lnTo>
                  <a:pt x="354072" y="355600"/>
                </a:lnTo>
                <a:cubicBezTo>
                  <a:pt x="366365" y="355600"/>
                  <a:pt x="376297" y="345668"/>
                  <a:pt x="376297" y="333375"/>
                </a:cubicBezTo>
                <a:cubicBezTo>
                  <a:pt x="376297" y="321082"/>
                  <a:pt x="366365" y="311150"/>
                  <a:pt x="354072" y="311150"/>
                </a:cubicBezTo>
                <a:lnTo>
                  <a:pt x="242947" y="311150"/>
                </a:lnTo>
                <a:lnTo>
                  <a:pt x="242947" y="106472"/>
                </a:lnTo>
                <a:cubicBezTo>
                  <a:pt x="257532" y="100082"/>
                  <a:pt x="268784" y="87719"/>
                  <a:pt x="273645" y="72440"/>
                </a:cubicBezTo>
                <a:lnTo>
                  <a:pt x="361087" y="43269"/>
                </a:lnTo>
                <a:close/>
                <a:moveTo>
                  <a:pt x="303719" y="200025"/>
                </a:moveTo>
                <a:lnTo>
                  <a:pt x="354003" y="113764"/>
                </a:lnTo>
                <a:lnTo>
                  <a:pt x="404287" y="200025"/>
                </a:lnTo>
                <a:lnTo>
                  <a:pt x="303649" y="200025"/>
                </a:lnTo>
                <a:close/>
                <a:moveTo>
                  <a:pt x="354003" y="266700"/>
                </a:moveTo>
                <a:cubicBezTo>
                  <a:pt x="397689" y="266700"/>
                  <a:pt x="434013" y="243086"/>
                  <a:pt x="441514" y="211901"/>
                </a:cubicBezTo>
                <a:cubicBezTo>
                  <a:pt x="443319" y="204262"/>
                  <a:pt x="440819" y="196413"/>
                  <a:pt x="436860" y="189607"/>
                </a:cubicBezTo>
                <a:lnTo>
                  <a:pt x="370741" y="76260"/>
                </a:lnTo>
                <a:cubicBezTo>
                  <a:pt x="367268" y="70287"/>
                  <a:pt x="360878" y="66675"/>
                  <a:pt x="354003" y="66675"/>
                </a:cubicBezTo>
                <a:cubicBezTo>
                  <a:pt x="347127" y="66675"/>
                  <a:pt x="340737" y="70356"/>
                  <a:pt x="337264" y="76260"/>
                </a:cubicBezTo>
                <a:lnTo>
                  <a:pt x="271145" y="189676"/>
                </a:lnTo>
                <a:cubicBezTo>
                  <a:pt x="267186" y="196483"/>
                  <a:pt x="264686" y="204331"/>
                  <a:pt x="266492" y="211971"/>
                </a:cubicBezTo>
                <a:cubicBezTo>
                  <a:pt x="273993" y="243086"/>
                  <a:pt x="310317" y="266769"/>
                  <a:pt x="354003" y="266769"/>
                </a:cubicBezTo>
                <a:close/>
                <a:moveTo>
                  <a:pt x="88067" y="202664"/>
                </a:moveTo>
                <a:lnTo>
                  <a:pt x="138351" y="288925"/>
                </a:lnTo>
                <a:lnTo>
                  <a:pt x="37713" y="288925"/>
                </a:lnTo>
                <a:lnTo>
                  <a:pt x="87997" y="202664"/>
                </a:lnTo>
                <a:close/>
                <a:moveTo>
                  <a:pt x="625" y="300801"/>
                </a:moveTo>
                <a:cubicBezTo>
                  <a:pt x="8126" y="331986"/>
                  <a:pt x="44450" y="355600"/>
                  <a:pt x="88067" y="355600"/>
                </a:cubicBezTo>
                <a:cubicBezTo>
                  <a:pt x="131683" y="355600"/>
                  <a:pt x="168077" y="331986"/>
                  <a:pt x="175577" y="300801"/>
                </a:cubicBezTo>
                <a:cubicBezTo>
                  <a:pt x="177383" y="293162"/>
                  <a:pt x="174883" y="285313"/>
                  <a:pt x="170924" y="278507"/>
                </a:cubicBezTo>
                <a:lnTo>
                  <a:pt x="104805" y="165160"/>
                </a:lnTo>
                <a:cubicBezTo>
                  <a:pt x="101332" y="159187"/>
                  <a:pt x="94942" y="155575"/>
                  <a:pt x="88067" y="155575"/>
                </a:cubicBezTo>
                <a:cubicBezTo>
                  <a:pt x="81191" y="155575"/>
                  <a:pt x="74801" y="159256"/>
                  <a:pt x="71328" y="165160"/>
                </a:cubicBezTo>
                <a:lnTo>
                  <a:pt x="5278" y="278576"/>
                </a:lnTo>
                <a:cubicBezTo>
                  <a:pt x="1320" y="285383"/>
                  <a:pt x="-1181" y="293231"/>
                  <a:pt x="625" y="300871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0" name="Text 28"/>
          <p:cNvSpPr/>
          <p:nvPr/>
        </p:nvSpPr>
        <p:spPr>
          <a:xfrm>
            <a:off x="6667500" y="6921500"/>
            <a:ext cx="355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Inconsistent Decisions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standardized evaluation framework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795000" y="67310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090275" y="7048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8476" y="-17294"/>
                </a:moveTo>
                <a:cubicBezTo>
                  <a:pt x="21947" y="-23822"/>
                  <a:pt x="11390" y="-23822"/>
                  <a:pt x="4931" y="-17294"/>
                </a:cubicBezTo>
                <a:cubicBezTo>
                  <a:pt x="-1528" y="-10765"/>
                  <a:pt x="-1597" y="-208"/>
                  <a:pt x="4862" y="6320"/>
                </a:cubicBezTo>
                <a:lnTo>
                  <a:pt x="371574" y="373033"/>
                </a:lnTo>
                <a:cubicBezTo>
                  <a:pt x="378103" y="379561"/>
                  <a:pt x="388660" y="379561"/>
                  <a:pt x="395119" y="373033"/>
                </a:cubicBezTo>
                <a:cubicBezTo>
                  <a:pt x="401578" y="366504"/>
                  <a:pt x="401647" y="355947"/>
                  <a:pt x="395119" y="349488"/>
                </a:cubicBezTo>
                <a:lnTo>
                  <a:pt x="328166" y="282535"/>
                </a:lnTo>
                <a:cubicBezTo>
                  <a:pt x="330041" y="280868"/>
                  <a:pt x="331916" y="279202"/>
                  <a:pt x="333722" y="277535"/>
                </a:cubicBezTo>
                <a:cubicBezTo>
                  <a:pt x="366226" y="247323"/>
                  <a:pt x="387965" y="211276"/>
                  <a:pt x="398314" y="186482"/>
                </a:cubicBezTo>
                <a:cubicBezTo>
                  <a:pt x="400606" y="180995"/>
                  <a:pt x="400606" y="174883"/>
                  <a:pt x="398314" y="169396"/>
                </a:cubicBezTo>
                <a:cubicBezTo>
                  <a:pt x="387965" y="144601"/>
                  <a:pt x="366226" y="108486"/>
                  <a:pt x="333722" y="78343"/>
                </a:cubicBezTo>
                <a:cubicBezTo>
                  <a:pt x="301010" y="47992"/>
                  <a:pt x="256074" y="22364"/>
                  <a:pt x="199956" y="22364"/>
                </a:cubicBezTo>
                <a:cubicBezTo>
                  <a:pt x="160506" y="22364"/>
                  <a:pt x="126613" y="35004"/>
                  <a:pt x="98554" y="53062"/>
                </a:cubicBezTo>
                <a:lnTo>
                  <a:pt x="28476" y="-17294"/>
                </a:lnTo>
                <a:close/>
                <a:moveTo>
                  <a:pt x="142032" y="96331"/>
                </a:moveTo>
                <a:cubicBezTo>
                  <a:pt x="158353" y="84663"/>
                  <a:pt x="178425" y="77787"/>
                  <a:pt x="200025" y="77787"/>
                </a:cubicBezTo>
                <a:cubicBezTo>
                  <a:pt x="255240" y="77787"/>
                  <a:pt x="300038" y="122585"/>
                  <a:pt x="300038" y="177800"/>
                </a:cubicBezTo>
                <a:cubicBezTo>
                  <a:pt x="300038" y="199400"/>
                  <a:pt x="293162" y="219402"/>
                  <a:pt x="281494" y="235793"/>
                </a:cubicBezTo>
                <a:lnTo>
                  <a:pt x="257393" y="211693"/>
                </a:lnTo>
                <a:cubicBezTo>
                  <a:pt x="266214" y="196830"/>
                  <a:pt x="269200" y="178564"/>
                  <a:pt x="264408" y="160506"/>
                </a:cubicBezTo>
                <a:cubicBezTo>
                  <a:pt x="254893" y="124946"/>
                  <a:pt x="218291" y="103832"/>
                  <a:pt x="182731" y="113348"/>
                </a:cubicBezTo>
                <a:cubicBezTo>
                  <a:pt x="176758" y="114945"/>
                  <a:pt x="171133" y="117306"/>
                  <a:pt x="166062" y="120293"/>
                </a:cubicBezTo>
                <a:lnTo>
                  <a:pt x="141962" y="96193"/>
                </a:lnTo>
                <a:close/>
                <a:moveTo>
                  <a:pt x="225931" y="274409"/>
                </a:moveTo>
                <a:cubicBezTo>
                  <a:pt x="217666" y="276632"/>
                  <a:pt x="208984" y="277813"/>
                  <a:pt x="200025" y="277813"/>
                </a:cubicBezTo>
                <a:cubicBezTo>
                  <a:pt x="144810" y="277813"/>
                  <a:pt x="100013" y="233015"/>
                  <a:pt x="100013" y="177800"/>
                </a:cubicBezTo>
                <a:cubicBezTo>
                  <a:pt x="100013" y="168841"/>
                  <a:pt x="101193" y="160159"/>
                  <a:pt x="103416" y="151894"/>
                </a:cubicBezTo>
                <a:lnTo>
                  <a:pt x="48200" y="96679"/>
                </a:lnTo>
                <a:cubicBezTo>
                  <a:pt x="25559" y="122238"/>
                  <a:pt x="10001" y="149324"/>
                  <a:pt x="1736" y="169257"/>
                </a:cubicBezTo>
                <a:cubicBezTo>
                  <a:pt x="-556" y="174744"/>
                  <a:pt x="-556" y="180856"/>
                  <a:pt x="1736" y="186343"/>
                </a:cubicBezTo>
                <a:cubicBezTo>
                  <a:pt x="12085" y="211138"/>
                  <a:pt x="33824" y="247253"/>
                  <a:pt x="66328" y="277396"/>
                </a:cubicBezTo>
                <a:cubicBezTo>
                  <a:pt x="99040" y="307747"/>
                  <a:pt x="143976" y="333375"/>
                  <a:pt x="200094" y="333375"/>
                </a:cubicBezTo>
                <a:cubicBezTo>
                  <a:pt x="226000" y="333375"/>
                  <a:pt x="249545" y="327888"/>
                  <a:pt x="270589" y="319068"/>
                </a:cubicBezTo>
                <a:lnTo>
                  <a:pt x="226000" y="274479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3" name="Text 31"/>
          <p:cNvSpPr/>
          <p:nvPr/>
        </p:nvSpPr>
        <p:spPr>
          <a:xfrm>
            <a:off x="11684000" y="6921500"/>
            <a:ext cx="355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Weak Transparency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Decisions lack explainable reasoning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113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3000" y="1270000"/>
            <a:ext cx="6350000" cy="6350000"/>
          </a:xfrm>
          <a:prstGeom prst="ellipse">
            <a:avLst/>
          </a:prstGeom>
          <a:gradFill flip="none" rotWithShape="1">
            <a:gsLst>
              <a:gs pos="0">
                <a:srgbClr val="2563EB">
                  <a:alpha val="6000"/>
                </a:srgbClr>
              </a:gs>
              <a:gs pos="100000">
                <a:srgbClr val="0B102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98500"/>
            <a:ext cx="50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7620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BIG INSIGHT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778000" y="1524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i="1" kern="0" spc="1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if procurement decisions were explainable?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0" y="2349500"/>
            <a:ext cx="2540000" cy="25400"/>
          </a:xfrm>
          <a:prstGeom prst="rect">
            <a:avLst/>
          </a:prstGeom>
          <a:gradFill flip="none" rotWithShape="1">
            <a:gsLst>
              <a:gs pos="0">
                <a:srgbClr val="38BDF8">
                  <a:alpha val="0"/>
                </a:srgbClr>
              </a:gs>
              <a:gs pos="50000">
                <a:srgbClr val="38BDF8"/>
              </a:gs>
              <a:gs pos="100000">
                <a:srgbClr val="38BDF8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762000" y="2667000"/>
            <a:ext cx="6604000" cy="508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2667000"/>
            <a:ext cx="660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kern="0" spc="100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✕</a:t>
            </a:r>
            <a:r>
              <a:rPr lang="en-US" sz="1800" kern="0" spc="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TRADITIONAL PROCUREMENT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62000" y="3429000"/>
            <a:ext cx="6604000" cy="762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7275" y="3619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6675" y="0"/>
                </a:moveTo>
                <a:cubicBezTo>
                  <a:pt x="42158" y="0"/>
                  <a:pt x="22225" y="19933"/>
                  <a:pt x="22225" y="44450"/>
                </a:cubicBezTo>
                <a:lnTo>
                  <a:pt x="22225" y="311150"/>
                </a:lnTo>
                <a:cubicBezTo>
                  <a:pt x="22225" y="335667"/>
                  <a:pt x="42158" y="355600"/>
                  <a:pt x="66675" y="355600"/>
                </a:cubicBezTo>
                <a:lnTo>
                  <a:pt x="122238" y="355600"/>
                </a:lnTo>
                <a:lnTo>
                  <a:pt x="122238" y="277813"/>
                </a:lnTo>
                <a:cubicBezTo>
                  <a:pt x="122238" y="253296"/>
                  <a:pt x="142171" y="233363"/>
                  <a:pt x="166688" y="233363"/>
                </a:cubicBezTo>
                <a:lnTo>
                  <a:pt x="288925" y="233363"/>
                </a:lnTo>
                <a:lnTo>
                  <a:pt x="288925" y="118418"/>
                </a:lnTo>
                <a:cubicBezTo>
                  <a:pt x="288925" y="106611"/>
                  <a:pt x="284272" y="95290"/>
                  <a:pt x="275937" y="86955"/>
                </a:cubicBezTo>
                <a:lnTo>
                  <a:pt x="201900" y="12988"/>
                </a:lnTo>
                <a:cubicBezTo>
                  <a:pt x="193566" y="4653"/>
                  <a:pt x="182314" y="0"/>
                  <a:pt x="170507" y="0"/>
                </a:cubicBezTo>
                <a:lnTo>
                  <a:pt x="66675" y="0"/>
                </a:lnTo>
                <a:close/>
                <a:moveTo>
                  <a:pt x="248295" y="122238"/>
                </a:moveTo>
                <a:lnTo>
                  <a:pt x="183356" y="122238"/>
                </a:lnTo>
                <a:cubicBezTo>
                  <a:pt x="174119" y="122238"/>
                  <a:pt x="166688" y="114806"/>
                  <a:pt x="166688" y="105569"/>
                </a:cubicBezTo>
                <a:lnTo>
                  <a:pt x="166688" y="40630"/>
                </a:lnTo>
                <a:lnTo>
                  <a:pt x="248295" y="122238"/>
                </a:lnTo>
                <a:close/>
                <a:moveTo>
                  <a:pt x="166688" y="263922"/>
                </a:moveTo>
                <a:cubicBezTo>
                  <a:pt x="159048" y="263922"/>
                  <a:pt x="152797" y="270173"/>
                  <a:pt x="152797" y="277813"/>
                </a:cubicBezTo>
                <a:lnTo>
                  <a:pt x="152797" y="366712"/>
                </a:lnTo>
                <a:cubicBezTo>
                  <a:pt x="152797" y="374352"/>
                  <a:pt x="159048" y="380603"/>
                  <a:pt x="166688" y="380603"/>
                </a:cubicBezTo>
                <a:cubicBezTo>
                  <a:pt x="174327" y="380603"/>
                  <a:pt x="180578" y="374352"/>
                  <a:pt x="180578" y="366712"/>
                </a:cubicBezTo>
                <a:lnTo>
                  <a:pt x="180578" y="347266"/>
                </a:lnTo>
                <a:lnTo>
                  <a:pt x="188913" y="347266"/>
                </a:lnTo>
                <a:cubicBezTo>
                  <a:pt x="211901" y="347266"/>
                  <a:pt x="230584" y="328583"/>
                  <a:pt x="230584" y="305594"/>
                </a:cubicBezTo>
                <a:cubicBezTo>
                  <a:pt x="230584" y="282605"/>
                  <a:pt x="211901" y="263922"/>
                  <a:pt x="188913" y="263922"/>
                </a:cubicBezTo>
                <a:lnTo>
                  <a:pt x="166688" y="263922"/>
                </a:lnTo>
                <a:close/>
                <a:moveTo>
                  <a:pt x="188913" y="319484"/>
                </a:moveTo>
                <a:lnTo>
                  <a:pt x="180578" y="319484"/>
                </a:lnTo>
                <a:lnTo>
                  <a:pt x="180578" y="291703"/>
                </a:lnTo>
                <a:lnTo>
                  <a:pt x="188913" y="291703"/>
                </a:lnTo>
                <a:cubicBezTo>
                  <a:pt x="196552" y="291703"/>
                  <a:pt x="202803" y="297954"/>
                  <a:pt x="202803" y="305594"/>
                </a:cubicBezTo>
                <a:cubicBezTo>
                  <a:pt x="202803" y="313234"/>
                  <a:pt x="196552" y="319484"/>
                  <a:pt x="188913" y="319484"/>
                </a:cubicBezTo>
                <a:close/>
                <a:moveTo>
                  <a:pt x="255587" y="263922"/>
                </a:moveTo>
                <a:cubicBezTo>
                  <a:pt x="247948" y="263922"/>
                  <a:pt x="241697" y="270173"/>
                  <a:pt x="241697" y="277813"/>
                </a:cubicBezTo>
                <a:lnTo>
                  <a:pt x="241697" y="366712"/>
                </a:lnTo>
                <a:cubicBezTo>
                  <a:pt x="241697" y="374352"/>
                  <a:pt x="247948" y="380603"/>
                  <a:pt x="255587" y="380603"/>
                </a:cubicBezTo>
                <a:lnTo>
                  <a:pt x="277813" y="380603"/>
                </a:lnTo>
                <a:cubicBezTo>
                  <a:pt x="297746" y="380603"/>
                  <a:pt x="313928" y="364421"/>
                  <a:pt x="313928" y="344488"/>
                </a:cubicBezTo>
                <a:lnTo>
                  <a:pt x="313928" y="300038"/>
                </a:lnTo>
                <a:cubicBezTo>
                  <a:pt x="313928" y="280104"/>
                  <a:pt x="297746" y="263922"/>
                  <a:pt x="277813" y="263922"/>
                </a:cubicBezTo>
                <a:lnTo>
                  <a:pt x="255587" y="263922"/>
                </a:lnTo>
                <a:close/>
                <a:moveTo>
                  <a:pt x="269478" y="352822"/>
                </a:moveTo>
                <a:lnTo>
                  <a:pt x="269478" y="291703"/>
                </a:lnTo>
                <a:lnTo>
                  <a:pt x="277813" y="291703"/>
                </a:lnTo>
                <a:cubicBezTo>
                  <a:pt x="282396" y="291703"/>
                  <a:pt x="286147" y="295454"/>
                  <a:pt x="286147" y="300038"/>
                </a:cubicBezTo>
                <a:lnTo>
                  <a:pt x="286147" y="344488"/>
                </a:lnTo>
                <a:cubicBezTo>
                  <a:pt x="286147" y="349071"/>
                  <a:pt x="282396" y="352822"/>
                  <a:pt x="277813" y="352822"/>
                </a:cubicBezTo>
                <a:lnTo>
                  <a:pt x="269478" y="352822"/>
                </a:lnTo>
                <a:close/>
                <a:moveTo>
                  <a:pt x="330597" y="277813"/>
                </a:moveTo>
                <a:lnTo>
                  <a:pt x="330597" y="366712"/>
                </a:lnTo>
                <a:cubicBezTo>
                  <a:pt x="330597" y="374352"/>
                  <a:pt x="336848" y="380603"/>
                  <a:pt x="344488" y="380603"/>
                </a:cubicBezTo>
                <a:cubicBezTo>
                  <a:pt x="352127" y="380603"/>
                  <a:pt x="358378" y="374352"/>
                  <a:pt x="358378" y="366712"/>
                </a:cubicBezTo>
                <a:lnTo>
                  <a:pt x="358378" y="336153"/>
                </a:lnTo>
                <a:lnTo>
                  <a:pt x="377825" y="336153"/>
                </a:lnTo>
                <a:cubicBezTo>
                  <a:pt x="385465" y="336153"/>
                  <a:pt x="391716" y="329902"/>
                  <a:pt x="391716" y="322263"/>
                </a:cubicBezTo>
                <a:cubicBezTo>
                  <a:pt x="391716" y="314623"/>
                  <a:pt x="385465" y="308372"/>
                  <a:pt x="377825" y="308372"/>
                </a:cubicBezTo>
                <a:lnTo>
                  <a:pt x="358378" y="308372"/>
                </a:lnTo>
                <a:lnTo>
                  <a:pt x="358378" y="291703"/>
                </a:lnTo>
                <a:lnTo>
                  <a:pt x="377825" y="291703"/>
                </a:lnTo>
                <a:cubicBezTo>
                  <a:pt x="385465" y="291703"/>
                  <a:pt x="391716" y="285452"/>
                  <a:pt x="391716" y="277813"/>
                </a:cubicBezTo>
                <a:cubicBezTo>
                  <a:pt x="391716" y="270173"/>
                  <a:pt x="385465" y="263922"/>
                  <a:pt x="377825" y="263922"/>
                </a:cubicBezTo>
                <a:lnTo>
                  <a:pt x="344488" y="263922"/>
                </a:lnTo>
                <a:cubicBezTo>
                  <a:pt x="336848" y="263922"/>
                  <a:pt x="330597" y="270173"/>
                  <a:pt x="330597" y="277813"/>
                </a:cubicBez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1651000" y="3429000"/>
            <a:ext cx="546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Documents</a:t>
            </a: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Manual review of hundreds of pages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038600" y="4254500"/>
            <a:ext cx="0" cy="25400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762000" y="4572000"/>
            <a:ext cx="6604000" cy="762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1725" y="4762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77800" y="111125"/>
                </a:moveTo>
                <a:lnTo>
                  <a:pt x="177800" y="177800"/>
                </a:lnTo>
                <a:lnTo>
                  <a:pt x="266700" y="177800"/>
                </a:lnTo>
                <a:lnTo>
                  <a:pt x="266700" y="111125"/>
                </a:lnTo>
                <a:lnTo>
                  <a:pt x="177800" y="111125"/>
                </a:lnTo>
                <a:close/>
                <a:moveTo>
                  <a:pt x="133350" y="111125"/>
                </a:moveTo>
                <a:lnTo>
                  <a:pt x="44450" y="111125"/>
                </a:lnTo>
                <a:lnTo>
                  <a:pt x="44450" y="177800"/>
                </a:lnTo>
                <a:lnTo>
                  <a:pt x="133350" y="177800"/>
                </a:lnTo>
                <a:lnTo>
                  <a:pt x="133350" y="111125"/>
                </a:lnTo>
                <a:close/>
                <a:moveTo>
                  <a:pt x="0" y="222250"/>
                </a:moveTo>
                <a:lnTo>
                  <a:pt x="0" y="66675"/>
                </a:lnTo>
                <a:cubicBezTo>
                  <a:pt x="0" y="42158"/>
                  <a:pt x="19933" y="22225"/>
                  <a:pt x="44450" y="22225"/>
                </a:cubicBezTo>
                <a:lnTo>
                  <a:pt x="266700" y="22225"/>
                </a:lnTo>
                <a:cubicBezTo>
                  <a:pt x="291217" y="22225"/>
                  <a:pt x="311150" y="42158"/>
                  <a:pt x="311150" y="66675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222250"/>
                </a:lnTo>
                <a:close/>
                <a:moveTo>
                  <a:pt x="266700" y="222250"/>
                </a:moveTo>
                <a:lnTo>
                  <a:pt x="177800" y="222250"/>
                </a:lnTo>
                <a:lnTo>
                  <a:pt x="177800" y="288925"/>
                </a:lnTo>
                <a:lnTo>
                  <a:pt x="266700" y="288925"/>
                </a:lnTo>
                <a:lnTo>
                  <a:pt x="266700" y="222250"/>
                </a:lnTo>
                <a:close/>
                <a:moveTo>
                  <a:pt x="133350" y="288925"/>
                </a:moveTo>
                <a:lnTo>
                  <a:pt x="133350" y="222250"/>
                </a:lnTo>
                <a:lnTo>
                  <a:pt x="44450" y="222250"/>
                </a:lnTo>
                <a:lnTo>
                  <a:pt x="44450" y="288925"/>
                </a:lnTo>
                <a:lnTo>
                  <a:pt x="133350" y="288925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15" name="Text 13"/>
          <p:cNvSpPr/>
          <p:nvPr/>
        </p:nvSpPr>
        <p:spPr>
          <a:xfrm>
            <a:off x="1651000" y="4572000"/>
            <a:ext cx="546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Spreadsheets</a:t>
            </a: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Disorganized data entry &amp; comparison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038600" y="5397500"/>
            <a:ext cx="0" cy="25400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62000" y="5715000"/>
            <a:ext cx="6604000" cy="762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95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122238"/>
                </a:moveTo>
                <a:cubicBezTo>
                  <a:pt x="165507" y="122238"/>
                  <a:pt x="155575" y="132169"/>
                  <a:pt x="155575" y="144463"/>
                </a:cubicBezTo>
                <a:cubicBezTo>
                  <a:pt x="155575" y="153700"/>
                  <a:pt x="148144" y="161131"/>
                  <a:pt x="138906" y="161131"/>
                </a:cubicBezTo>
                <a:cubicBezTo>
                  <a:pt x="129669" y="161131"/>
                  <a:pt x="122238" y="153700"/>
                  <a:pt x="122238" y="144463"/>
                </a:cubicBezTo>
                <a:cubicBezTo>
                  <a:pt x="122238" y="113764"/>
                  <a:pt x="147102" y="88900"/>
                  <a:pt x="177800" y="88900"/>
                </a:cubicBezTo>
                <a:cubicBezTo>
                  <a:pt x="208498" y="88900"/>
                  <a:pt x="233363" y="113764"/>
                  <a:pt x="233363" y="144463"/>
                </a:cubicBezTo>
                <a:cubicBezTo>
                  <a:pt x="233363" y="177244"/>
                  <a:pt x="208359" y="191135"/>
                  <a:pt x="194469" y="196205"/>
                </a:cubicBezTo>
                <a:lnTo>
                  <a:pt x="194469" y="198844"/>
                </a:lnTo>
                <a:cubicBezTo>
                  <a:pt x="194469" y="208082"/>
                  <a:pt x="187037" y="215513"/>
                  <a:pt x="177800" y="215513"/>
                </a:cubicBezTo>
                <a:cubicBezTo>
                  <a:pt x="168563" y="215513"/>
                  <a:pt x="161131" y="208082"/>
                  <a:pt x="161131" y="198844"/>
                </a:cubicBezTo>
                <a:lnTo>
                  <a:pt x="161131" y="193219"/>
                </a:lnTo>
                <a:cubicBezTo>
                  <a:pt x="161131" y="178981"/>
                  <a:pt x="171410" y="168771"/>
                  <a:pt x="182037" y="165298"/>
                </a:cubicBezTo>
                <a:cubicBezTo>
                  <a:pt x="186482" y="163840"/>
                  <a:pt x="191204" y="161479"/>
                  <a:pt x="194677" y="158145"/>
                </a:cubicBezTo>
                <a:cubicBezTo>
                  <a:pt x="197664" y="155228"/>
                  <a:pt x="200025" y="151199"/>
                  <a:pt x="200025" y="144532"/>
                </a:cubicBezTo>
                <a:cubicBezTo>
                  <a:pt x="200025" y="132239"/>
                  <a:pt x="190093" y="122307"/>
                  <a:pt x="177800" y="122307"/>
                </a:cubicBezTo>
                <a:close/>
                <a:moveTo>
                  <a:pt x="155575" y="255587"/>
                </a:moveTo>
                <a:cubicBezTo>
                  <a:pt x="155575" y="243321"/>
                  <a:pt x="165534" y="233363"/>
                  <a:pt x="177800" y="233363"/>
                </a:cubicBezTo>
                <a:cubicBezTo>
                  <a:pt x="190066" y="233363"/>
                  <a:pt x="200025" y="243321"/>
                  <a:pt x="200025" y="255587"/>
                </a:cubicBezTo>
                <a:cubicBezTo>
                  <a:pt x="200025" y="267854"/>
                  <a:pt x="190066" y="277813"/>
                  <a:pt x="177800" y="277813"/>
                </a:cubicBezTo>
                <a:cubicBezTo>
                  <a:pt x="165534" y="277813"/>
                  <a:pt x="155575" y="267854"/>
                  <a:pt x="155575" y="255587"/>
                </a:cubicBez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1651000" y="5715000"/>
            <a:ext cx="546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Subjective Decisions</a:t>
            </a: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Bias-prone, hard to justify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6858000"/>
            <a:ext cx="6604000" cy="635000"/>
          </a:xfrm>
          <a:prstGeom prst="roundRect">
            <a:avLst>
              <a:gd name="adj" fmla="val 8000"/>
            </a:avLst>
          </a:prstGeom>
          <a:solidFill>
            <a:srgbClr val="EF4444">
              <a:alpha val="6275"/>
            </a:srgbClr>
          </a:solidFill>
          <a:ln w="12700">
            <a:solidFill>
              <a:srgbClr val="EF4444">
                <a:alpha val="25098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68580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Slow · Inconsistent · Non-Auditable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0" y="4572000"/>
            <a:ext cx="1016000" cy="1016000"/>
          </a:xfrm>
          <a:prstGeom prst="ellipse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8B5CF6"/>
              </a:gs>
            </a:gsLst>
            <a:path path="circle"/>
          </a:gradFill>
          <a:ln/>
          <a:effectLst>
            <a:outerShdw blurRad="254000" dist="50800" dir="2700000" algn="bl" rotWithShape="0">
              <a:srgbClr val="2563EB">
                <a:alpha val="25098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20000" y="4572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890000" y="2667000"/>
            <a:ext cx="6604000" cy="508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90000" y="2667000"/>
            <a:ext cx="660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kern="0" spc="1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 QUORIX INTELLIGENCE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8890000" y="3429000"/>
            <a:ext cx="6604000" cy="635000"/>
          </a:xfrm>
          <a:prstGeom prst="roundRect">
            <a:avLst>
              <a:gd name="adj" fmla="val 6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85275" y="35687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00013" y="333375"/>
                </a:moveTo>
                <a:cubicBezTo>
                  <a:pt x="44797" y="333375"/>
                  <a:pt x="0" y="288578"/>
                  <a:pt x="0" y="233363"/>
                </a:cubicBezTo>
                <a:cubicBezTo>
                  <a:pt x="0" y="189329"/>
                  <a:pt x="28476" y="151963"/>
                  <a:pt x="67995" y="138559"/>
                </a:cubicBezTo>
                <a:cubicBezTo>
                  <a:pt x="67092" y="133211"/>
                  <a:pt x="66675" y="127794"/>
                  <a:pt x="66675" y="122238"/>
                </a:cubicBezTo>
                <a:cubicBezTo>
                  <a:pt x="66675" y="67022"/>
                  <a:pt x="111472" y="22225"/>
                  <a:pt x="166688" y="22225"/>
                </a:cubicBezTo>
                <a:cubicBezTo>
                  <a:pt x="205165" y="22225"/>
                  <a:pt x="238571" y="43964"/>
                  <a:pt x="255310" y="75773"/>
                </a:cubicBezTo>
                <a:cubicBezTo>
                  <a:pt x="265172" y="70009"/>
                  <a:pt x="276701" y="66675"/>
                  <a:pt x="288925" y="66675"/>
                </a:cubicBezTo>
                <a:cubicBezTo>
                  <a:pt x="325735" y="66675"/>
                  <a:pt x="355600" y="96540"/>
                  <a:pt x="355600" y="133350"/>
                </a:cubicBezTo>
                <a:cubicBezTo>
                  <a:pt x="355600" y="144254"/>
                  <a:pt x="352961" y="154603"/>
                  <a:pt x="348307" y="163701"/>
                </a:cubicBezTo>
                <a:cubicBezTo>
                  <a:pt x="378867" y="177800"/>
                  <a:pt x="400050" y="208637"/>
                  <a:pt x="400050" y="244475"/>
                </a:cubicBezTo>
                <a:cubicBezTo>
                  <a:pt x="400050" y="293578"/>
                  <a:pt x="360253" y="333375"/>
                  <a:pt x="311150" y="333375"/>
                </a:cubicBezTo>
                <a:lnTo>
                  <a:pt x="100013" y="333375"/>
                </a:lnTo>
                <a:close/>
                <a:moveTo>
                  <a:pt x="211832" y="132655"/>
                </a:moveTo>
                <a:cubicBezTo>
                  <a:pt x="205303" y="126127"/>
                  <a:pt x="194747" y="126127"/>
                  <a:pt x="188287" y="132655"/>
                </a:cubicBezTo>
                <a:lnTo>
                  <a:pt x="138281" y="182662"/>
                </a:lnTo>
                <a:cubicBezTo>
                  <a:pt x="131753" y="189190"/>
                  <a:pt x="131753" y="199747"/>
                  <a:pt x="138281" y="206206"/>
                </a:cubicBezTo>
                <a:cubicBezTo>
                  <a:pt x="144810" y="212665"/>
                  <a:pt x="155367" y="212735"/>
                  <a:pt x="161826" y="206206"/>
                </a:cubicBezTo>
                <a:lnTo>
                  <a:pt x="183356" y="184676"/>
                </a:lnTo>
                <a:lnTo>
                  <a:pt x="183356" y="255587"/>
                </a:lnTo>
                <a:cubicBezTo>
                  <a:pt x="183356" y="264825"/>
                  <a:pt x="190788" y="272256"/>
                  <a:pt x="200025" y="272256"/>
                </a:cubicBezTo>
                <a:cubicBezTo>
                  <a:pt x="209262" y="272256"/>
                  <a:pt x="216694" y="264825"/>
                  <a:pt x="216694" y="255587"/>
                </a:cubicBezTo>
                <a:lnTo>
                  <a:pt x="216694" y="184676"/>
                </a:lnTo>
                <a:lnTo>
                  <a:pt x="238224" y="206206"/>
                </a:lnTo>
                <a:cubicBezTo>
                  <a:pt x="244753" y="212735"/>
                  <a:pt x="255310" y="212735"/>
                  <a:pt x="261769" y="206206"/>
                </a:cubicBezTo>
                <a:cubicBezTo>
                  <a:pt x="268228" y="199678"/>
                  <a:pt x="268297" y="189121"/>
                  <a:pt x="261769" y="182662"/>
                </a:cubicBezTo>
                <a:lnTo>
                  <a:pt x="211763" y="132655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9779000" y="3429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</a:t>
            </a:r>
            <a:r>
              <a:rPr lang="en-US" sz="1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Tender documents (PDF/DOCX/TXT)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890000" y="4191000"/>
            <a:ext cx="6604000" cy="635000"/>
          </a:xfrm>
          <a:prstGeom prst="roundRect">
            <a:avLst>
              <a:gd name="adj" fmla="val 6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85275" y="43307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82940" y="-18752"/>
                </a:moveTo>
                <a:lnTo>
                  <a:pt x="193219" y="6806"/>
                </a:lnTo>
                <a:lnTo>
                  <a:pt x="218777" y="17085"/>
                </a:lnTo>
                <a:cubicBezTo>
                  <a:pt x="220861" y="17919"/>
                  <a:pt x="222250" y="20003"/>
                  <a:pt x="222250" y="22225"/>
                </a:cubicBezTo>
                <a:cubicBezTo>
                  <a:pt x="222250" y="24448"/>
                  <a:pt x="220861" y="26531"/>
                  <a:pt x="218777" y="27365"/>
                </a:cubicBezTo>
                <a:lnTo>
                  <a:pt x="193219" y="37644"/>
                </a:lnTo>
                <a:lnTo>
                  <a:pt x="182940" y="63202"/>
                </a:lnTo>
                <a:cubicBezTo>
                  <a:pt x="182106" y="65286"/>
                  <a:pt x="180022" y="66675"/>
                  <a:pt x="177800" y="66675"/>
                </a:cubicBezTo>
                <a:cubicBezTo>
                  <a:pt x="175577" y="66675"/>
                  <a:pt x="173494" y="65286"/>
                  <a:pt x="172660" y="63202"/>
                </a:cubicBezTo>
                <a:lnTo>
                  <a:pt x="162381" y="37644"/>
                </a:lnTo>
                <a:lnTo>
                  <a:pt x="136823" y="27365"/>
                </a:lnTo>
                <a:cubicBezTo>
                  <a:pt x="134739" y="26531"/>
                  <a:pt x="133350" y="24447"/>
                  <a:pt x="133350" y="22225"/>
                </a:cubicBezTo>
                <a:cubicBezTo>
                  <a:pt x="133350" y="20003"/>
                  <a:pt x="134739" y="17919"/>
                  <a:pt x="136823" y="17085"/>
                </a:cubicBezTo>
                <a:lnTo>
                  <a:pt x="162381" y="6806"/>
                </a:lnTo>
                <a:lnTo>
                  <a:pt x="172660" y="-18752"/>
                </a:lnTo>
                <a:cubicBezTo>
                  <a:pt x="173494" y="-20836"/>
                  <a:pt x="175577" y="-22225"/>
                  <a:pt x="177800" y="-22225"/>
                </a:cubicBezTo>
                <a:cubicBezTo>
                  <a:pt x="180023" y="-22225"/>
                  <a:pt x="182106" y="-20836"/>
                  <a:pt x="182940" y="-18752"/>
                </a:cubicBezTo>
                <a:close/>
                <a:moveTo>
                  <a:pt x="76885" y="28962"/>
                </a:moveTo>
                <a:lnTo>
                  <a:pt x="91817" y="63758"/>
                </a:lnTo>
                <a:lnTo>
                  <a:pt x="126613" y="78690"/>
                </a:lnTo>
                <a:cubicBezTo>
                  <a:pt x="130711" y="80427"/>
                  <a:pt x="133350" y="84455"/>
                  <a:pt x="133350" y="88900"/>
                </a:cubicBezTo>
                <a:cubicBezTo>
                  <a:pt x="133350" y="93345"/>
                  <a:pt x="130711" y="97373"/>
                  <a:pt x="126613" y="99110"/>
                </a:cubicBezTo>
                <a:lnTo>
                  <a:pt x="91817" y="114042"/>
                </a:lnTo>
                <a:lnTo>
                  <a:pt x="76885" y="148838"/>
                </a:lnTo>
                <a:cubicBezTo>
                  <a:pt x="75148" y="152936"/>
                  <a:pt x="71120" y="155575"/>
                  <a:pt x="66675" y="155575"/>
                </a:cubicBezTo>
                <a:cubicBezTo>
                  <a:pt x="62230" y="155575"/>
                  <a:pt x="58202" y="152936"/>
                  <a:pt x="56465" y="148838"/>
                </a:cubicBezTo>
                <a:lnTo>
                  <a:pt x="41533" y="114042"/>
                </a:lnTo>
                <a:lnTo>
                  <a:pt x="6737" y="99110"/>
                </a:lnTo>
                <a:cubicBezTo>
                  <a:pt x="2639" y="97373"/>
                  <a:pt x="0" y="93345"/>
                  <a:pt x="0" y="88900"/>
                </a:cubicBezTo>
                <a:cubicBezTo>
                  <a:pt x="0" y="84455"/>
                  <a:pt x="2639" y="80427"/>
                  <a:pt x="6737" y="78690"/>
                </a:cubicBezTo>
                <a:lnTo>
                  <a:pt x="41533" y="63758"/>
                </a:lnTo>
                <a:lnTo>
                  <a:pt x="56465" y="28962"/>
                </a:lnTo>
                <a:cubicBezTo>
                  <a:pt x="58202" y="24864"/>
                  <a:pt x="62230" y="22225"/>
                  <a:pt x="66675" y="22225"/>
                </a:cubicBezTo>
                <a:cubicBezTo>
                  <a:pt x="71120" y="22225"/>
                  <a:pt x="75148" y="24864"/>
                  <a:pt x="76885" y="28962"/>
                </a:cubicBezTo>
                <a:close/>
                <a:moveTo>
                  <a:pt x="322263" y="211138"/>
                </a:moveTo>
                <a:cubicBezTo>
                  <a:pt x="326708" y="211138"/>
                  <a:pt x="330736" y="213777"/>
                  <a:pt x="332472" y="217874"/>
                </a:cubicBezTo>
                <a:lnTo>
                  <a:pt x="347405" y="252670"/>
                </a:lnTo>
                <a:lnTo>
                  <a:pt x="382201" y="267603"/>
                </a:lnTo>
                <a:cubicBezTo>
                  <a:pt x="386298" y="269339"/>
                  <a:pt x="388938" y="273368"/>
                  <a:pt x="388938" y="277813"/>
                </a:cubicBezTo>
                <a:cubicBezTo>
                  <a:pt x="388938" y="282257"/>
                  <a:pt x="386298" y="286286"/>
                  <a:pt x="382201" y="288022"/>
                </a:cubicBezTo>
                <a:lnTo>
                  <a:pt x="347405" y="302955"/>
                </a:lnTo>
                <a:lnTo>
                  <a:pt x="332472" y="337751"/>
                </a:lnTo>
                <a:cubicBezTo>
                  <a:pt x="330736" y="341848"/>
                  <a:pt x="326707" y="344488"/>
                  <a:pt x="322263" y="344488"/>
                </a:cubicBezTo>
                <a:cubicBezTo>
                  <a:pt x="317818" y="344488"/>
                  <a:pt x="313789" y="341848"/>
                  <a:pt x="312053" y="337751"/>
                </a:cubicBezTo>
                <a:lnTo>
                  <a:pt x="297120" y="302955"/>
                </a:lnTo>
                <a:lnTo>
                  <a:pt x="262324" y="288022"/>
                </a:lnTo>
                <a:cubicBezTo>
                  <a:pt x="258227" y="286286"/>
                  <a:pt x="255587" y="282257"/>
                  <a:pt x="255587" y="277813"/>
                </a:cubicBezTo>
                <a:cubicBezTo>
                  <a:pt x="255587" y="273368"/>
                  <a:pt x="258227" y="269339"/>
                  <a:pt x="262324" y="267603"/>
                </a:cubicBezTo>
                <a:lnTo>
                  <a:pt x="297120" y="252670"/>
                </a:lnTo>
                <a:lnTo>
                  <a:pt x="312053" y="217874"/>
                </a:lnTo>
                <a:cubicBezTo>
                  <a:pt x="313789" y="213777"/>
                  <a:pt x="317818" y="211138"/>
                  <a:pt x="322263" y="211138"/>
                </a:cubicBezTo>
                <a:close/>
                <a:moveTo>
                  <a:pt x="319484" y="0"/>
                </a:moveTo>
                <a:cubicBezTo>
                  <a:pt x="327124" y="0"/>
                  <a:pt x="334486" y="3056"/>
                  <a:pt x="339973" y="8473"/>
                </a:cubicBezTo>
                <a:lnTo>
                  <a:pt x="369352" y="37852"/>
                </a:lnTo>
                <a:cubicBezTo>
                  <a:pt x="374769" y="43339"/>
                  <a:pt x="377825" y="50701"/>
                  <a:pt x="377825" y="58341"/>
                </a:cubicBezTo>
                <a:cubicBezTo>
                  <a:pt x="377825" y="65980"/>
                  <a:pt x="374769" y="73343"/>
                  <a:pt x="369352" y="78829"/>
                </a:cubicBezTo>
                <a:lnTo>
                  <a:pt x="308094" y="140087"/>
                </a:lnTo>
                <a:lnTo>
                  <a:pt x="237738" y="69731"/>
                </a:lnTo>
                <a:lnTo>
                  <a:pt x="298996" y="8473"/>
                </a:lnTo>
                <a:cubicBezTo>
                  <a:pt x="304483" y="3056"/>
                  <a:pt x="311845" y="0"/>
                  <a:pt x="319484" y="0"/>
                </a:cubicBezTo>
                <a:close/>
                <a:moveTo>
                  <a:pt x="30698" y="276771"/>
                </a:moveTo>
                <a:lnTo>
                  <a:pt x="214193" y="93276"/>
                </a:lnTo>
                <a:lnTo>
                  <a:pt x="284549" y="163632"/>
                </a:lnTo>
                <a:lnTo>
                  <a:pt x="101054" y="347127"/>
                </a:lnTo>
                <a:cubicBezTo>
                  <a:pt x="95567" y="352544"/>
                  <a:pt x="88205" y="355600"/>
                  <a:pt x="80566" y="355600"/>
                </a:cubicBezTo>
                <a:cubicBezTo>
                  <a:pt x="72926" y="355600"/>
                  <a:pt x="65564" y="352544"/>
                  <a:pt x="60077" y="347127"/>
                </a:cubicBezTo>
                <a:lnTo>
                  <a:pt x="30698" y="317748"/>
                </a:lnTo>
                <a:cubicBezTo>
                  <a:pt x="25281" y="312261"/>
                  <a:pt x="22225" y="304899"/>
                  <a:pt x="22225" y="297259"/>
                </a:cubicBezTo>
                <a:cubicBezTo>
                  <a:pt x="22225" y="289620"/>
                  <a:pt x="25281" y="282257"/>
                  <a:pt x="30698" y="276771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1" name="Text 29"/>
          <p:cNvSpPr/>
          <p:nvPr/>
        </p:nvSpPr>
        <p:spPr>
          <a:xfrm>
            <a:off x="9779000" y="4191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</a:t>
            </a:r>
            <a:r>
              <a:rPr lang="en-US" sz="1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AI parses bidder information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890000" y="4953000"/>
            <a:ext cx="6604000" cy="635000"/>
          </a:xfrm>
          <a:prstGeom prst="roundRect">
            <a:avLst>
              <a:gd name="adj" fmla="val 6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51950" y="50927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44450" y="0"/>
                </a:moveTo>
                <a:cubicBezTo>
                  <a:pt x="19933" y="0"/>
                  <a:pt x="0" y="19933"/>
                  <a:pt x="0" y="44450"/>
                </a:cubicBezTo>
                <a:lnTo>
                  <a:pt x="0" y="311150"/>
                </a:lnTo>
                <a:cubicBezTo>
                  <a:pt x="0" y="335667"/>
                  <a:pt x="19933" y="355600"/>
                  <a:pt x="44450" y="355600"/>
                </a:cubicBezTo>
                <a:lnTo>
                  <a:pt x="222250" y="355600"/>
                </a:lnTo>
                <a:cubicBezTo>
                  <a:pt x="246767" y="355600"/>
                  <a:pt x="266700" y="335667"/>
                  <a:pt x="266700" y="311150"/>
                </a:cubicBezTo>
                <a:lnTo>
                  <a:pt x="266700" y="44450"/>
                </a:lnTo>
                <a:cubicBezTo>
                  <a:pt x="266700" y="19933"/>
                  <a:pt x="246767" y="0"/>
                  <a:pt x="222250" y="0"/>
                </a:cubicBezTo>
                <a:lnTo>
                  <a:pt x="44450" y="0"/>
                </a:lnTo>
                <a:close/>
                <a:moveTo>
                  <a:pt x="66675" y="44450"/>
                </a:moveTo>
                <a:lnTo>
                  <a:pt x="200025" y="44450"/>
                </a:lnTo>
                <a:cubicBezTo>
                  <a:pt x="212318" y="44450"/>
                  <a:pt x="222250" y="54382"/>
                  <a:pt x="222250" y="66675"/>
                </a:cubicBezTo>
                <a:lnTo>
                  <a:pt x="222250" y="88900"/>
                </a:lnTo>
                <a:cubicBezTo>
                  <a:pt x="222250" y="101193"/>
                  <a:pt x="212318" y="111125"/>
                  <a:pt x="200025" y="111125"/>
                </a:cubicBezTo>
                <a:lnTo>
                  <a:pt x="66675" y="111125"/>
                </a:lnTo>
                <a:cubicBezTo>
                  <a:pt x="54382" y="111125"/>
                  <a:pt x="44450" y="101193"/>
                  <a:pt x="44450" y="88900"/>
                </a:cubicBezTo>
                <a:lnTo>
                  <a:pt x="44450" y="66675"/>
                </a:lnTo>
                <a:cubicBezTo>
                  <a:pt x="44450" y="54382"/>
                  <a:pt x="54382" y="44450"/>
                  <a:pt x="66675" y="44450"/>
                </a:cubicBezTo>
                <a:close/>
                <a:moveTo>
                  <a:pt x="77788" y="161131"/>
                </a:moveTo>
                <a:cubicBezTo>
                  <a:pt x="77788" y="170331"/>
                  <a:pt x="70318" y="177800"/>
                  <a:pt x="61119" y="177800"/>
                </a:cubicBezTo>
                <a:cubicBezTo>
                  <a:pt x="51919" y="177800"/>
                  <a:pt x="44450" y="170331"/>
                  <a:pt x="44450" y="161131"/>
                </a:cubicBezTo>
                <a:cubicBezTo>
                  <a:pt x="44450" y="151932"/>
                  <a:pt x="51919" y="144463"/>
                  <a:pt x="61119" y="144463"/>
                </a:cubicBezTo>
                <a:cubicBezTo>
                  <a:pt x="70318" y="144463"/>
                  <a:pt x="77788" y="151932"/>
                  <a:pt x="77788" y="161131"/>
                </a:cubicBezTo>
                <a:close/>
                <a:moveTo>
                  <a:pt x="133350" y="177800"/>
                </a:moveTo>
                <a:cubicBezTo>
                  <a:pt x="124150" y="177800"/>
                  <a:pt x="116681" y="170331"/>
                  <a:pt x="116681" y="161131"/>
                </a:cubicBezTo>
                <a:cubicBezTo>
                  <a:pt x="116681" y="151932"/>
                  <a:pt x="124150" y="144463"/>
                  <a:pt x="133350" y="144463"/>
                </a:cubicBezTo>
                <a:cubicBezTo>
                  <a:pt x="142550" y="144463"/>
                  <a:pt x="150019" y="151932"/>
                  <a:pt x="150019" y="161131"/>
                </a:cubicBezTo>
                <a:cubicBezTo>
                  <a:pt x="150019" y="170331"/>
                  <a:pt x="142550" y="177800"/>
                  <a:pt x="133350" y="177800"/>
                </a:cubicBezTo>
                <a:close/>
                <a:moveTo>
                  <a:pt x="222250" y="161131"/>
                </a:moveTo>
                <a:cubicBezTo>
                  <a:pt x="222250" y="170331"/>
                  <a:pt x="214781" y="177800"/>
                  <a:pt x="205581" y="177800"/>
                </a:cubicBezTo>
                <a:cubicBezTo>
                  <a:pt x="196382" y="177800"/>
                  <a:pt x="188913" y="170331"/>
                  <a:pt x="188913" y="161131"/>
                </a:cubicBezTo>
                <a:cubicBezTo>
                  <a:pt x="188913" y="151932"/>
                  <a:pt x="196382" y="144463"/>
                  <a:pt x="205581" y="144463"/>
                </a:cubicBezTo>
                <a:cubicBezTo>
                  <a:pt x="214781" y="144463"/>
                  <a:pt x="222250" y="151932"/>
                  <a:pt x="222250" y="161131"/>
                </a:cubicBezTo>
                <a:close/>
                <a:moveTo>
                  <a:pt x="61119" y="244475"/>
                </a:moveTo>
                <a:cubicBezTo>
                  <a:pt x="51919" y="244475"/>
                  <a:pt x="44450" y="237006"/>
                  <a:pt x="44450" y="227806"/>
                </a:cubicBezTo>
                <a:cubicBezTo>
                  <a:pt x="44450" y="218607"/>
                  <a:pt x="51919" y="211138"/>
                  <a:pt x="61119" y="211138"/>
                </a:cubicBezTo>
                <a:cubicBezTo>
                  <a:pt x="70318" y="211138"/>
                  <a:pt x="77788" y="218607"/>
                  <a:pt x="77788" y="227806"/>
                </a:cubicBezTo>
                <a:cubicBezTo>
                  <a:pt x="77788" y="237006"/>
                  <a:pt x="70318" y="244475"/>
                  <a:pt x="61119" y="244475"/>
                </a:cubicBezTo>
                <a:close/>
                <a:moveTo>
                  <a:pt x="150019" y="227806"/>
                </a:moveTo>
                <a:cubicBezTo>
                  <a:pt x="150019" y="237006"/>
                  <a:pt x="142550" y="244475"/>
                  <a:pt x="133350" y="244475"/>
                </a:cubicBezTo>
                <a:cubicBezTo>
                  <a:pt x="124150" y="244475"/>
                  <a:pt x="116681" y="237006"/>
                  <a:pt x="116681" y="227806"/>
                </a:cubicBezTo>
                <a:cubicBezTo>
                  <a:pt x="116681" y="218607"/>
                  <a:pt x="124150" y="211138"/>
                  <a:pt x="133350" y="211138"/>
                </a:cubicBezTo>
                <a:cubicBezTo>
                  <a:pt x="142550" y="211138"/>
                  <a:pt x="150019" y="218607"/>
                  <a:pt x="150019" y="227806"/>
                </a:cubicBezTo>
                <a:close/>
                <a:moveTo>
                  <a:pt x="205581" y="244475"/>
                </a:moveTo>
                <a:cubicBezTo>
                  <a:pt x="196382" y="244475"/>
                  <a:pt x="188913" y="237006"/>
                  <a:pt x="188913" y="227806"/>
                </a:cubicBezTo>
                <a:cubicBezTo>
                  <a:pt x="188913" y="218607"/>
                  <a:pt x="196382" y="211138"/>
                  <a:pt x="205581" y="211138"/>
                </a:cubicBezTo>
                <a:cubicBezTo>
                  <a:pt x="214781" y="211138"/>
                  <a:pt x="222250" y="218607"/>
                  <a:pt x="222250" y="227806"/>
                </a:cubicBezTo>
                <a:cubicBezTo>
                  <a:pt x="222250" y="237006"/>
                  <a:pt x="214781" y="244475"/>
                  <a:pt x="205581" y="244475"/>
                </a:cubicBezTo>
                <a:close/>
                <a:moveTo>
                  <a:pt x="44450" y="294481"/>
                </a:moveTo>
                <a:cubicBezTo>
                  <a:pt x="44450" y="285244"/>
                  <a:pt x="51881" y="277813"/>
                  <a:pt x="61119" y="277813"/>
                </a:cubicBezTo>
                <a:lnTo>
                  <a:pt x="138906" y="277813"/>
                </a:lnTo>
                <a:cubicBezTo>
                  <a:pt x="148144" y="277813"/>
                  <a:pt x="155575" y="285244"/>
                  <a:pt x="155575" y="294481"/>
                </a:cubicBezTo>
                <a:cubicBezTo>
                  <a:pt x="155575" y="303719"/>
                  <a:pt x="148144" y="311150"/>
                  <a:pt x="138906" y="311150"/>
                </a:cubicBezTo>
                <a:lnTo>
                  <a:pt x="61119" y="311150"/>
                </a:lnTo>
                <a:cubicBezTo>
                  <a:pt x="51881" y="311150"/>
                  <a:pt x="44450" y="303719"/>
                  <a:pt x="44450" y="294481"/>
                </a:cubicBezTo>
                <a:close/>
                <a:moveTo>
                  <a:pt x="205581" y="277813"/>
                </a:moveTo>
                <a:cubicBezTo>
                  <a:pt x="214819" y="277813"/>
                  <a:pt x="222250" y="285244"/>
                  <a:pt x="222250" y="294481"/>
                </a:cubicBezTo>
                <a:cubicBezTo>
                  <a:pt x="222250" y="303719"/>
                  <a:pt x="214819" y="311150"/>
                  <a:pt x="205581" y="311150"/>
                </a:cubicBezTo>
                <a:cubicBezTo>
                  <a:pt x="196344" y="311150"/>
                  <a:pt x="188913" y="303719"/>
                  <a:pt x="188913" y="294481"/>
                </a:cubicBezTo>
                <a:cubicBezTo>
                  <a:pt x="188913" y="285244"/>
                  <a:pt x="196344" y="277813"/>
                  <a:pt x="205581" y="277813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4" name="Text 32"/>
          <p:cNvSpPr/>
          <p:nvPr/>
        </p:nvSpPr>
        <p:spPr>
          <a:xfrm>
            <a:off x="9779000" y="4953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</a:t>
            </a:r>
            <a:r>
              <a:rPr lang="en-US" sz="1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Weighted scoring &amp; risk analysis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890000" y="5715000"/>
            <a:ext cx="6604000" cy="635000"/>
          </a:xfrm>
          <a:prstGeom prst="roundRect">
            <a:avLst>
              <a:gd name="adj" fmla="val 6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63050" y="58547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66700" y="22225"/>
                </a:moveTo>
                <a:lnTo>
                  <a:pt x="355600" y="22225"/>
                </a:lnTo>
                <a:cubicBezTo>
                  <a:pt x="367893" y="22225"/>
                  <a:pt x="377825" y="32157"/>
                  <a:pt x="377825" y="44450"/>
                </a:cubicBezTo>
                <a:cubicBezTo>
                  <a:pt x="377825" y="56743"/>
                  <a:pt x="367893" y="66675"/>
                  <a:pt x="355600" y="66675"/>
                </a:cubicBezTo>
                <a:lnTo>
                  <a:pt x="276701" y="66675"/>
                </a:lnTo>
                <a:cubicBezTo>
                  <a:pt x="273090" y="84594"/>
                  <a:pt x="260796" y="99387"/>
                  <a:pt x="244475" y="106472"/>
                </a:cubicBezTo>
                <a:lnTo>
                  <a:pt x="244475" y="311150"/>
                </a:lnTo>
                <a:lnTo>
                  <a:pt x="355600" y="311150"/>
                </a:lnTo>
                <a:cubicBezTo>
                  <a:pt x="367893" y="311150"/>
                  <a:pt x="377825" y="321082"/>
                  <a:pt x="377825" y="333375"/>
                </a:cubicBezTo>
                <a:cubicBezTo>
                  <a:pt x="377825" y="345668"/>
                  <a:pt x="367893" y="355600"/>
                  <a:pt x="355600" y="355600"/>
                </a:cubicBezTo>
                <a:lnTo>
                  <a:pt x="88900" y="355600"/>
                </a:lnTo>
                <a:cubicBezTo>
                  <a:pt x="76607" y="355600"/>
                  <a:pt x="66675" y="345668"/>
                  <a:pt x="66675" y="333375"/>
                </a:cubicBezTo>
                <a:cubicBezTo>
                  <a:pt x="66675" y="321082"/>
                  <a:pt x="76607" y="311150"/>
                  <a:pt x="88900" y="311150"/>
                </a:cubicBezTo>
                <a:lnTo>
                  <a:pt x="200025" y="311150"/>
                </a:lnTo>
                <a:lnTo>
                  <a:pt x="200025" y="106472"/>
                </a:lnTo>
                <a:cubicBezTo>
                  <a:pt x="183704" y="99318"/>
                  <a:pt x="171410" y="84524"/>
                  <a:pt x="167799" y="66675"/>
                </a:cubicBezTo>
                <a:lnTo>
                  <a:pt x="88900" y="66675"/>
                </a:lnTo>
                <a:cubicBezTo>
                  <a:pt x="76607" y="66675"/>
                  <a:pt x="66675" y="56743"/>
                  <a:pt x="66675" y="44450"/>
                </a:cubicBezTo>
                <a:cubicBezTo>
                  <a:pt x="66675" y="32157"/>
                  <a:pt x="76607" y="22225"/>
                  <a:pt x="88900" y="22225"/>
                </a:cubicBezTo>
                <a:lnTo>
                  <a:pt x="177800" y="22225"/>
                </a:lnTo>
                <a:cubicBezTo>
                  <a:pt x="187940" y="8751"/>
                  <a:pt x="204053" y="0"/>
                  <a:pt x="222250" y="0"/>
                </a:cubicBezTo>
                <a:cubicBezTo>
                  <a:pt x="240447" y="0"/>
                  <a:pt x="256560" y="8751"/>
                  <a:pt x="266700" y="22225"/>
                </a:cubicBezTo>
                <a:close/>
                <a:moveTo>
                  <a:pt x="305316" y="222250"/>
                </a:moveTo>
                <a:lnTo>
                  <a:pt x="405884" y="222250"/>
                </a:lnTo>
                <a:lnTo>
                  <a:pt x="355600" y="135989"/>
                </a:lnTo>
                <a:lnTo>
                  <a:pt x="305316" y="222250"/>
                </a:lnTo>
                <a:close/>
                <a:moveTo>
                  <a:pt x="355600" y="288925"/>
                </a:moveTo>
                <a:cubicBezTo>
                  <a:pt x="311914" y="288925"/>
                  <a:pt x="275590" y="265311"/>
                  <a:pt x="268089" y="234126"/>
                </a:cubicBezTo>
                <a:cubicBezTo>
                  <a:pt x="266283" y="226487"/>
                  <a:pt x="268784" y="218638"/>
                  <a:pt x="272742" y="211832"/>
                </a:cubicBezTo>
                <a:lnTo>
                  <a:pt x="338862" y="98485"/>
                </a:lnTo>
                <a:cubicBezTo>
                  <a:pt x="342334" y="92512"/>
                  <a:pt x="348724" y="88900"/>
                  <a:pt x="355600" y="88900"/>
                </a:cubicBezTo>
                <a:cubicBezTo>
                  <a:pt x="362476" y="88900"/>
                  <a:pt x="368866" y="92581"/>
                  <a:pt x="372338" y="98485"/>
                </a:cubicBezTo>
                <a:lnTo>
                  <a:pt x="438458" y="211832"/>
                </a:lnTo>
                <a:cubicBezTo>
                  <a:pt x="442416" y="218638"/>
                  <a:pt x="444917" y="226487"/>
                  <a:pt x="443111" y="234126"/>
                </a:cubicBezTo>
                <a:cubicBezTo>
                  <a:pt x="435610" y="265241"/>
                  <a:pt x="399286" y="288925"/>
                  <a:pt x="355600" y="288925"/>
                </a:cubicBezTo>
                <a:close/>
                <a:moveTo>
                  <a:pt x="88067" y="135989"/>
                </a:moveTo>
                <a:lnTo>
                  <a:pt x="37783" y="222250"/>
                </a:lnTo>
                <a:lnTo>
                  <a:pt x="138420" y="222250"/>
                </a:lnTo>
                <a:lnTo>
                  <a:pt x="88067" y="135989"/>
                </a:lnTo>
                <a:close/>
                <a:moveTo>
                  <a:pt x="625" y="234126"/>
                </a:moveTo>
                <a:cubicBezTo>
                  <a:pt x="-1181" y="226487"/>
                  <a:pt x="1320" y="218638"/>
                  <a:pt x="5278" y="211832"/>
                </a:cubicBezTo>
                <a:lnTo>
                  <a:pt x="71398" y="98485"/>
                </a:lnTo>
                <a:cubicBezTo>
                  <a:pt x="74870" y="92512"/>
                  <a:pt x="81260" y="88900"/>
                  <a:pt x="88136" y="88900"/>
                </a:cubicBezTo>
                <a:cubicBezTo>
                  <a:pt x="95012" y="88900"/>
                  <a:pt x="101402" y="92581"/>
                  <a:pt x="104874" y="98485"/>
                </a:cubicBezTo>
                <a:lnTo>
                  <a:pt x="170994" y="211832"/>
                </a:lnTo>
                <a:cubicBezTo>
                  <a:pt x="174952" y="218638"/>
                  <a:pt x="177453" y="226487"/>
                  <a:pt x="175647" y="234126"/>
                </a:cubicBezTo>
                <a:cubicBezTo>
                  <a:pt x="168146" y="265241"/>
                  <a:pt x="131822" y="288925"/>
                  <a:pt x="88136" y="288925"/>
                </a:cubicBezTo>
                <a:cubicBezTo>
                  <a:pt x="44450" y="288925"/>
                  <a:pt x="8126" y="265311"/>
                  <a:pt x="625" y="234126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7" name="Text 35"/>
          <p:cNvSpPr/>
          <p:nvPr/>
        </p:nvSpPr>
        <p:spPr>
          <a:xfrm>
            <a:off x="9779000" y="5715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</a:t>
            </a:r>
            <a:r>
              <a:rPr lang="en-US" sz="1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Multi-bidder ranking &amp; insights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890000" y="6477000"/>
            <a:ext cx="6604000" cy="635000"/>
          </a:xfrm>
          <a:prstGeom prst="roundRect">
            <a:avLst>
              <a:gd name="adj" fmla="val 6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51950" y="66167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73563" y="46395"/>
                </a:moveTo>
                <a:cubicBezTo>
                  <a:pt x="180786" y="36463"/>
                  <a:pt x="178564" y="22572"/>
                  <a:pt x="168632" y="15349"/>
                </a:cubicBezTo>
                <a:cubicBezTo>
                  <a:pt x="158700" y="8126"/>
                  <a:pt x="144810" y="10349"/>
                  <a:pt x="137587" y="20280"/>
                </a:cubicBezTo>
                <a:lnTo>
                  <a:pt x="63966" y="121474"/>
                </a:lnTo>
                <a:lnTo>
                  <a:pt x="37921" y="95429"/>
                </a:lnTo>
                <a:cubicBezTo>
                  <a:pt x="29240" y="86747"/>
                  <a:pt x="15141" y="86747"/>
                  <a:pt x="6459" y="95429"/>
                </a:cubicBezTo>
                <a:cubicBezTo>
                  <a:pt x="-2222" y="104110"/>
                  <a:pt x="-2222" y="118209"/>
                  <a:pt x="6459" y="126891"/>
                </a:cubicBezTo>
                <a:lnTo>
                  <a:pt x="50909" y="171341"/>
                </a:lnTo>
                <a:cubicBezTo>
                  <a:pt x="55493" y="175925"/>
                  <a:pt x="61883" y="178286"/>
                  <a:pt x="68342" y="177800"/>
                </a:cubicBezTo>
                <a:cubicBezTo>
                  <a:pt x="74801" y="177314"/>
                  <a:pt x="80774" y="173980"/>
                  <a:pt x="84594" y="168702"/>
                </a:cubicBezTo>
                <a:lnTo>
                  <a:pt x="173494" y="46464"/>
                </a:lnTo>
                <a:close/>
                <a:moveTo>
                  <a:pt x="262463" y="140851"/>
                </a:moveTo>
                <a:cubicBezTo>
                  <a:pt x="269686" y="130919"/>
                  <a:pt x="267464" y="117029"/>
                  <a:pt x="257532" y="109805"/>
                </a:cubicBezTo>
                <a:cubicBezTo>
                  <a:pt x="247600" y="102582"/>
                  <a:pt x="233710" y="104805"/>
                  <a:pt x="226487" y="114737"/>
                </a:cubicBezTo>
                <a:lnTo>
                  <a:pt x="108416" y="277049"/>
                </a:lnTo>
                <a:lnTo>
                  <a:pt x="60146" y="228779"/>
                </a:lnTo>
                <a:cubicBezTo>
                  <a:pt x="51465" y="220097"/>
                  <a:pt x="37366" y="220097"/>
                  <a:pt x="28684" y="228779"/>
                </a:cubicBezTo>
                <a:cubicBezTo>
                  <a:pt x="20002" y="237460"/>
                  <a:pt x="20002" y="251559"/>
                  <a:pt x="28684" y="260241"/>
                </a:cubicBezTo>
                <a:lnTo>
                  <a:pt x="95359" y="326916"/>
                </a:lnTo>
                <a:cubicBezTo>
                  <a:pt x="99943" y="331500"/>
                  <a:pt x="106333" y="333861"/>
                  <a:pt x="112792" y="333375"/>
                </a:cubicBezTo>
                <a:cubicBezTo>
                  <a:pt x="119251" y="332889"/>
                  <a:pt x="125224" y="329555"/>
                  <a:pt x="129044" y="324277"/>
                </a:cubicBezTo>
                <a:lnTo>
                  <a:pt x="262394" y="140920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0" name="Text 38"/>
          <p:cNvSpPr/>
          <p:nvPr/>
        </p:nvSpPr>
        <p:spPr>
          <a:xfrm>
            <a:off x="9779000" y="64770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Decide</a:t>
            </a:r>
            <a:r>
              <a:rPr lang="en-US" sz="16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Explainable, defensible outcomes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890000" y="7366000"/>
            <a:ext cx="6604000" cy="635000"/>
          </a:xfrm>
          <a:prstGeom prst="roundRect">
            <a:avLst>
              <a:gd name="adj" fmla="val 8000"/>
            </a:avLst>
          </a:prstGeom>
          <a:solidFill>
            <a:srgbClr val="22C55E">
              <a:alpha val="6275"/>
            </a:srgbClr>
          </a:solidFill>
          <a:ln w="12700">
            <a:solidFill>
              <a:srgbClr val="22C55E">
                <a:alpha val="25098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90000" y="73660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 · Consistent · Fully Auditable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5113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/ 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0" y="-635000"/>
            <a:ext cx="7620000" cy="5080000"/>
          </a:xfrm>
          <a:prstGeom prst="ellipse">
            <a:avLst/>
          </a:prstGeom>
          <a:gradFill flip="none" rotWithShape="1">
            <a:gsLst>
              <a:gs pos="0">
                <a:srgbClr val="2563EB">
                  <a:alpha val="6000"/>
                </a:srgbClr>
              </a:gs>
              <a:gs pos="100000">
                <a:srgbClr val="0B102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98500"/>
            <a:ext cx="50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7620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SHOWCASE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1270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AI-assisted procurement intelligence platform in action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9525000" cy="53340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38BDF8">
                <a:alpha val="18824"/>
              </a:srgbClr>
            </a:solidFill>
            <a:prstDash val="solid"/>
          </a:ln>
          <a:effectLst>
            <a:outerShdw blurRad="508000" dist="101600" dir="5400000" algn="bl" rotWithShape="0">
              <a:srgbClr val="2563EB">
                <a:alpha val="8235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84500" y="3937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541000" y="2540000"/>
            <a:ext cx="1016000" cy="0"/>
          </a:xfrm>
          <a:prstGeom prst="straightConnector1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10350500" y="2476500"/>
            <a:ext cx="127000" cy="127000"/>
          </a:xfrm>
          <a:prstGeom prst="ellipse">
            <a:avLst/>
          </a:prstGeom>
          <a:solidFill>
            <a:srgbClr val="38BDF8"/>
          </a:solidFill>
          <a:ln/>
          <a:effectLst>
            <a:outerShdw blurRad="101600" dist="50800" dir="2700000" algn="bl" rotWithShape="0">
              <a:srgbClr val="38BDF8">
                <a:alpha val="3764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84000" y="2222500"/>
            <a:ext cx="3810000" cy="6985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909425" y="23876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34925" y="0"/>
                </a:moveTo>
                <a:cubicBezTo>
                  <a:pt x="15662" y="0"/>
                  <a:pt x="0" y="15662"/>
                  <a:pt x="0" y="34925"/>
                </a:cubicBezTo>
                <a:lnTo>
                  <a:pt x="0" y="165894"/>
                </a:lnTo>
                <a:lnTo>
                  <a:pt x="99373" y="165894"/>
                </a:lnTo>
                <a:lnTo>
                  <a:pt x="82456" y="148977"/>
                </a:lnTo>
                <a:cubicBezTo>
                  <a:pt x="77326" y="143847"/>
                  <a:pt x="77326" y="135553"/>
                  <a:pt x="82456" y="130478"/>
                </a:cubicBezTo>
                <a:cubicBezTo>
                  <a:pt x="87585" y="125403"/>
                  <a:pt x="95880" y="125348"/>
                  <a:pt x="100955" y="130478"/>
                </a:cubicBezTo>
                <a:lnTo>
                  <a:pt x="140246" y="169768"/>
                </a:lnTo>
                <a:cubicBezTo>
                  <a:pt x="145375" y="174898"/>
                  <a:pt x="145375" y="183193"/>
                  <a:pt x="140246" y="188268"/>
                </a:cubicBezTo>
                <a:lnTo>
                  <a:pt x="100955" y="227558"/>
                </a:lnTo>
                <a:cubicBezTo>
                  <a:pt x="95825" y="232688"/>
                  <a:pt x="87531" y="232688"/>
                  <a:pt x="82456" y="227558"/>
                </a:cubicBezTo>
                <a:cubicBezTo>
                  <a:pt x="77381" y="222429"/>
                  <a:pt x="77326" y="214134"/>
                  <a:pt x="82456" y="209059"/>
                </a:cubicBezTo>
                <a:lnTo>
                  <a:pt x="99373" y="192142"/>
                </a:lnTo>
                <a:lnTo>
                  <a:pt x="0" y="192142"/>
                </a:lnTo>
                <a:lnTo>
                  <a:pt x="0" y="244530"/>
                </a:lnTo>
                <a:cubicBezTo>
                  <a:pt x="0" y="263793"/>
                  <a:pt x="15662" y="279455"/>
                  <a:pt x="34925" y="279455"/>
                </a:cubicBezTo>
                <a:lnTo>
                  <a:pt x="174625" y="279455"/>
                </a:lnTo>
                <a:cubicBezTo>
                  <a:pt x="193888" y="279455"/>
                  <a:pt x="209550" y="263793"/>
                  <a:pt x="209550" y="244530"/>
                </a:cubicBezTo>
                <a:lnTo>
                  <a:pt x="209550" y="93097"/>
                </a:lnTo>
                <a:cubicBezTo>
                  <a:pt x="209550" y="83820"/>
                  <a:pt x="205894" y="74925"/>
                  <a:pt x="199345" y="68377"/>
                </a:cubicBezTo>
                <a:lnTo>
                  <a:pt x="141173" y="10205"/>
                </a:lnTo>
                <a:cubicBezTo>
                  <a:pt x="134625" y="3656"/>
                  <a:pt x="125785" y="0"/>
                  <a:pt x="116508" y="0"/>
                </a:cubicBezTo>
                <a:lnTo>
                  <a:pt x="34925" y="0"/>
                </a:lnTo>
                <a:close/>
                <a:moveTo>
                  <a:pt x="177626" y="96044"/>
                </a:moveTo>
                <a:lnTo>
                  <a:pt x="126603" y="96044"/>
                </a:lnTo>
                <a:cubicBezTo>
                  <a:pt x="119345" y="96044"/>
                  <a:pt x="113506" y="90205"/>
                  <a:pt x="113506" y="82947"/>
                </a:cubicBezTo>
                <a:lnTo>
                  <a:pt x="113506" y="31924"/>
                </a:lnTo>
                <a:lnTo>
                  <a:pt x="177626" y="96044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12293600" y="22225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Extraction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PDF · DOCX · TXT parsing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541000" y="3683000"/>
            <a:ext cx="1016000" cy="0"/>
          </a:xfrm>
          <a:prstGeom prst="straightConnector1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0350500" y="3619500"/>
            <a:ext cx="127000" cy="127000"/>
          </a:xfrm>
          <a:prstGeom prst="ellipse">
            <a:avLst/>
          </a:prstGeom>
          <a:solidFill>
            <a:srgbClr val="38BDF8"/>
          </a:solidFill>
          <a:ln/>
          <a:effectLst>
            <a:outerShdw blurRad="101600" dist="50800" dir="2700000" algn="bl" rotWithShape="0">
              <a:srgbClr val="38BDF8">
                <a:alpha val="37647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684000" y="3365500"/>
            <a:ext cx="3810000" cy="6985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74500" y="353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96044" y="13097"/>
                </a:moveTo>
                <a:cubicBezTo>
                  <a:pt x="96044" y="5839"/>
                  <a:pt x="90205" y="0"/>
                  <a:pt x="82947" y="0"/>
                </a:cubicBezTo>
                <a:cubicBezTo>
                  <a:pt x="75689" y="0"/>
                  <a:pt x="69850" y="5839"/>
                  <a:pt x="69850" y="13097"/>
                </a:cubicBezTo>
                <a:lnTo>
                  <a:pt x="69850" y="34925"/>
                </a:lnTo>
                <a:cubicBezTo>
                  <a:pt x="50587" y="34925"/>
                  <a:pt x="34925" y="50587"/>
                  <a:pt x="34925" y="69850"/>
                </a:cubicBezTo>
                <a:lnTo>
                  <a:pt x="13097" y="69850"/>
                </a:lnTo>
                <a:cubicBezTo>
                  <a:pt x="5839" y="69850"/>
                  <a:pt x="0" y="75689"/>
                  <a:pt x="0" y="82947"/>
                </a:cubicBezTo>
                <a:cubicBezTo>
                  <a:pt x="0" y="90205"/>
                  <a:pt x="5839" y="96044"/>
                  <a:pt x="13097" y="96044"/>
                </a:cubicBezTo>
                <a:lnTo>
                  <a:pt x="34925" y="96044"/>
                </a:lnTo>
                <a:lnTo>
                  <a:pt x="34925" y="126603"/>
                </a:lnTo>
                <a:lnTo>
                  <a:pt x="13097" y="126603"/>
                </a:lnTo>
                <a:cubicBezTo>
                  <a:pt x="5839" y="126603"/>
                  <a:pt x="0" y="132442"/>
                  <a:pt x="0" y="139700"/>
                </a:cubicBezTo>
                <a:cubicBezTo>
                  <a:pt x="0" y="146958"/>
                  <a:pt x="5839" y="152797"/>
                  <a:pt x="13097" y="152797"/>
                </a:cubicBezTo>
                <a:lnTo>
                  <a:pt x="34925" y="152797"/>
                </a:lnTo>
                <a:lnTo>
                  <a:pt x="34925" y="183356"/>
                </a:lnTo>
                <a:lnTo>
                  <a:pt x="13097" y="183356"/>
                </a:lnTo>
                <a:cubicBezTo>
                  <a:pt x="5839" y="183356"/>
                  <a:pt x="0" y="189195"/>
                  <a:pt x="0" y="196453"/>
                </a:cubicBezTo>
                <a:cubicBezTo>
                  <a:pt x="0" y="203711"/>
                  <a:pt x="5839" y="209550"/>
                  <a:pt x="13097" y="209550"/>
                </a:cubicBezTo>
                <a:lnTo>
                  <a:pt x="34925" y="209550"/>
                </a:lnTo>
                <a:cubicBezTo>
                  <a:pt x="34925" y="228813"/>
                  <a:pt x="50587" y="244475"/>
                  <a:pt x="69850" y="244475"/>
                </a:cubicBezTo>
                <a:lnTo>
                  <a:pt x="69850" y="266303"/>
                </a:lnTo>
                <a:cubicBezTo>
                  <a:pt x="69850" y="273561"/>
                  <a:pt x="75689" y="279400"/>
                  <a:pt x="82947" y="279400"/>
                </a:cubicBezTo>
                <a:cubicBezTo>
                  <a:pt x="90205" y="279400"/>
                  <a:pt x="96044" y="273561"/>
                  <a:pt x="96044" y="266303"/>
                </a:cubicBezTo>
                <a:lnTo>
                  <a:pt x="96044" y="244475"/>
                </a:lnTo>
                <a:lnTo>
                  <a:pt x="126603" y="244475"/>
                </a:lnTo>
                <a:lnTo>
                  <a:pt x="126603" y="266303"/>
                </a:lnTo>
                <a:cubicBezTo>
                  <a:pt x="126603" y="273561"/>
                  <a:pt x="132442" y="279400"/>
                  <a:pt x="139700" y="279400"/>
                </a:cubicBezTo>
                <a:cubicBezTo>
                  <a:pt x="146958" y="279400"/>
                  <a:pt x="152797" y="273561"/>
                  <a:pt x="152797" y="266303"/>
                </a:cubicBezTo>
                <a:lnTo>
                  <a:pt x="152797" y="244475"/>
                </a:lnTo>
                <a:lnTo>
                  <a:pt x="183356" y="244475"/>
                </a:lnTo>
                <a:lnTo>
                  <a:pt x="183356" y="266303"/>
                </a:lnTo>
                <a:cubicBezTo>
                  <a:pt x="183356" y="273561"/>
                  <a:pt x="189195" y="279400"/>
                  <a:pt x="196453" y="279400"/>
                </a:cubicBezTo>
                <a:cubicBezTo>
                  <a:pt x="203711" y="279400"/>
                  <a:pt x="209550" y="273561"/>
                  <a:pt x="209550" y="266303"/>
                </a:cubicBezTo>
                <a:lnTo>
                  <a:pt x="209550" y="244475"/>
                </a:lnTo>
                <a:cubicBezTo>
                  <a:pt x="228813" y="244475"/>
                  <a:pt x="244475" y="228813"/>
                  <a:pt x="244475" y="209550"/>
                </a:cubicBezTo>
                <a:lnTo>
                  <a:pt x="266303" y="209550"/>
                </a:lnTo>
                <a:cubicBezTo>
                  <a:pt x="273561" y="209550"/>
                  <a:pt x="279400" y="203711"/>
                  <a:pt x="279400" y="196453"/>
                </a:cubicBezTo>
                <a:cubicBezTo>
                  <a:pt x="279400" y="189195"/>
                  <a:pt x="273561" y="183356"/>
                  <a:pt x="266303" y="183356"/>
                </a:cubicBezTo>
                <a:lnTo>
                  <a:pt x="244475" y="183356"/>
                </a:lnTo>
                <a:lnTo>
                  <a:pt x="244475" y="152797"/>
                </a:lnTo>
                <a:lnTo>
                  <a:pt x="266303" y="152797"/>
                </a:lnTo>
                <a:cubicBezTo>
                  <a:pt x="273561" y="152797"/>
                  <a:pt x="279400" y="146958"/>
                  <a:pt x="279400" y="139700"/>
                </a:cubicBezTo>
                <a:cubicBezTo>
                  <a:pt x="279400" y="132442"/>
                  <a:pt x="273561" y="126603"/>
                  <a:pt x="266303" y="126603"/>
                </a:cubicBezTo>
                <a:lnTo>
                  <a:pt x="244475" y="126603"/>
                </a:lnTo>
                <a:lnTo>
                  <a:pt x="244475" y="96044"/>
                </a:lnTo>
                <a:lnTo>
                  <a:pt x="266303" y="96044"/>
                </a:lnTo>
                <a:cubicBezTo>
                  <a:pt x="273561" y="96044"/>
                  <a:pt x="279400" y="90205"/>
                  <a:pt x="279400" y="82947"/>
                </a:cubicBezTo>
                <a:cubicBezTo>
                  <a:pt x="279400" y="75689"/>
                  <a:pt x="273561" y="69850"/>
                  <a:pt x="266303" y="69850"/>
                </a:cubicBezTo>
                <a:lnTo>
                  <a:pt x="244475" y="69850"/>
                </a:lnTo>
                <a:cubicBezTo>
                  <a:pt x="244475" y="50587"/>
                  <a:pt x="228813" y="34925"/>
                  <a:pt x="209550" y="34925"/>
                </a:cubicBezTo>
                <a:lnTo>
                  <a:pt x="209550" y="13097"/>
                </a:lnTo>
                <a:cubicBezTo>
                  <a:pt x="209550" y="5839"/>
                  <a:pt x="203711" y="0"/>
                  <a:pt x="196453" y="0"/>
                </a:cubicBezTo>
                <a:cubicBezTo>
                  <a:pt x="189195" y="0"/>
                  <a:pt x="183356" y="5839"/>
                  <a:pt x="183356" y="13097"/>
                </a:cubicBezTo>
                <a:lnTo>
                  <a:pt x="183356" y="34925"/>
                </a:lnTo>
                <a:lnTo>
                  <a:pt x="152797" y="34925"/>
                </a:lnTo>
                <a:lnTo>
                  <a:pt x="152797" y="13097"/>
                </a:lnTo>
                <a:cubicBezTo>
                  <a:pt x="152797" y="5839"/>
                  <a:pt x="146958" y="0"/>
                  <a:pt x="139700" y="0"/>
                </a:cubicBezTo>
                <a:cubicBezTo>
                  <a:pt x="132442" y="0"/>
                  <a:pt x="126603" y="5839"/>
                  <a:pt x="126603" y="13097"/>
                </a:cubicBezTo>
                <a:lnTo>
                  <a:pt x="126603" y="34925"/>
                </a:lnTo>
                <a:lnTo>
                  <a:pt x="96044" y="34925"/>
                </a:lnTo>
                <a:lnTo>
                  <a:pt x="96044" y="13097"/>
                </a:lnTo>
                <a:close/>
                <a:moveTo>
                  <a:pt x="87313" y="69850"/>
                </a:moveTo>
                <a:lnTo>
                  <a:pt x="192088" y="69850"/>
                </a:lnTo>
                <a:cubicBezTo>
                  <a:pt x="201746" y="69850"/>
                  <a:pt x="209550" y="77654"/>
                  <a:pt x="209550" y="87313"/>
                </a:cubicBezTo>
                <a:lnTo>
                  <a:pt x="209550" y="192088"/>
                </a:lnTo>
                <a:cubicBezTo>
                  <a:pt x="209550" y="201746"/>
                  <a:pt x="201746" y="209550"/>
                  <a:pt x="192088" y="209550"/>
                </a:cubicBezTo>
                <a:lnTo>
                  <a:pt x="87313" y="209550"/>
                </a:lnTo>
                <a:cubicBezTo>
                  <a:pt x="77654" y="209550"/>
                  <a:pt x="69850" y="201746"/>
                  <a:pt x="69850" y="192088"/>
                </a:cubicBezTo>
                <a:lnTo>
                  <a:pt x="69850" y="87313"/>
                </a:lnTo>
                <a:cubicBezTo>
                  <a:pt x="69850" y="77654"/>
                  <a:pt x="77654" y="69850"/>
                  <a:pt x="87313" y="69850"/>
                </a:cubicBezTo>
                <a:close/>
                <a:moveTo>
                  <a:pt x="96044" y="96044"/>
                </a:moveTo>
                <a:lnTo>
                  <a:pt x="96044" y="183356"/>
                </a:lnTo>
                <a:lnTo>
                  <a:pt x="183356" y="183356"/>
                </a:lnTo>
                <a:lnTo>
                  <a:pt x="183356" y="96044"/>
                </a:lnTo>
                <a:lnTo>
                  <a:pt x="96044" y="96044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12293600" y="33655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Evaluation Engine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scoring &amp; risk analysis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541000" y="4826000"/>
            <a:ext cx="1016000" cy="0"/>
          </a:xfrm>
          <a:prstGeom prst="straightConnector1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0350500" y="4762500"/>
            <a:ext cx="127000" cy="127000"/>
          </a:xfrm>
          <a:prstGeom prst="ellipse">
            <a:avLst/>
          </a:prstGeom>
          <a:solidFill>
            <a:srgbClr val="38BDF8"/>
          </a:solidFill>
          <a:ln/>
          <a:effectLst>
            <a:outerShdw blurRad="101600" dist="50800" dir="2700000" algn="bl" rotWithShape="0">
              <a:srgbClr val="38BDF8">
                <a:alpha val="37647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684000" y="4508500"/>
            <a:ext cx="3810000" cy="6985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74500" y="4673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2210" y="0"/>
                  <a:pt x="144720" y="546"/>
                  <a:pt x="147012" y="1583"/>
                </a:cubicBezTo>
                <a:lnTo>
                  <a:pt x="249823" y="45184"/>
                </a:lnTo>
                <a:cubicBezTo>
                  <a:pt x="261828" y="50259"/>
                  <a:pt x="270778" y="62101"/>
                  <a:pt x="270723" y="76398"/>
                </a:cubicBezTo>
                <a:cubicBezTo>
                  <a:pt x="270450" y="130532"/>
                  <a:pt x="248186" y="229577"/>
                  <a:pt x="154161" y="274598"/>
                </a:cubicBezTo>
                <a:cubicBezTo>
                  <a:pt x="145048" y="278963"/>
                  <a:pt x="134461" y="278963"/>
                  <a:pt x="125348" y="274598"/>
                </a:cubicBezTo>
                <a:cubicBezTo>
                  <a:pt x="31269" y="229577"/>
                  <a:pt x="9059" y="130532"/>
                  <a:pt x="8786" y="76398"/>
                </a:cubicBezTo>
                <a:cubicBezTo>
                  <a:pt x="8731" y="62101"/>
                  <a:pt x="17681" y="50259"/>
                  <a:pt x="29686" y="45184"/>
                </a:cubicBezTo>
                <a:lnTo>
                  <a:pt x="132442" y="1583"/>
                </a:lnTo>
                <a:cubicBezTo>
                  <a:pt x="134734" y="546"/>
                  <a:pt x="137190" y="0"/>
                  <a:pt x="139700" y="0"/>
                </a:cubicBezTo>
                <a:close/>
                <a:moveTo>
                  <a:pt x="139700" y="36453"/>
                </a:moveTo>
                <a:lnTo>
                  <a:pt x="139700" y="242783"/>
                </a:lnTo>
                <a:cubicBezTo>
                  <a:pt x="215007" y="206330"/>
                  <a:pt x="235253" y="125566"/>
                  <a:pt x="235744" y="77217"/>
                </a:cubicBezTo>
                <a:lnTo>
                  <a:pt x="139700" y="36508"/>
                </a:lnTo>
                <a:lnTo>
                  <a:pt x="139700" y="36508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12293600" y="45085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Trail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Governance-ready decision logs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541000" y="5969000"/>
            <a:ext cx="1016000" cy="0"/>
          </a:xfrm>
          <a:prstGeom prst="straightConnector1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0350500" y="5905500"/>
            <a:ext cx="127000" cy="127000"/>
          </a:xfrm>
          <a:prstGeom prst="ellipse">
            <a:avLst/>
          </a:prstGeom>
          <a:solidFill>
            <a:srgbClr val="38BDF8"/>
          </a:solidFill>
          <a:ln/>
          <a:effectLst>
            <a:outerShdw blurRad="101600" dist="50800" dir="2700000" algn="bl" rotWithShape="0">
              <a:srgbClr val="38BDF8">
                <a:alpha val="37647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1684000" y="5651500"/>
            <a:ext cx="3810000" cy="6985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74500" y="5816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7463" y="34925"/>
                </a:moveTo>
                <a:cubicBezTo>
                  <a:pt x="7804" y="34925"/>
                  <a:pt x="0" y="42729"/>
                  <a:pt x="0" y="52388"/>
                </a:cubicBezTo>
                <a:cubicBezTo>
                  <a:pt x="0" y="62046"/>
                  <a:pt x="7804" y="69850"/>
                  <a:pt x="17463" y="69850"/>
                </a:cubicBezTo>
                <a:lnTo>
                  <a:pt x="64775" y="69850"/>
                </a:lnTo>
                <a:cubicBezTo>
                  <a:pt x="71487" y="85293"/>
                  <a:pt x="86876" y="96044"/>
                  <a:pt x="104775" y="96044"/>
                </a:cubicBezTo>
                <a:cubicBezTo>
                  <a:pt x="122674" y="96044"/>
                  <a:pt x="138063" y="85293"/>
                  <a:pt x="144775" y="69850"/>
                </a:cubicBezTo>
                <a:lnTo>
                  <a:pt x="261938" y="69850"/>
                </a:lnTo>
                <a:cubicBezTo>
                  <a:pt x="271596" y="69850"/>
                  <a:pt x="279400" y="62046"/>
                  <a:pt x="279400" y="52388"/>
                </a:cubicBezTo>
                <a:cubicBezTo>
                  <a:pt x="279400" y="42729"/>
                  <a:pt x="271596" y="34925"/>
                  <a:pt x="261938" y="34925"/>
                </a:cubicBezTo>
                <a:lnTo>
                  <a:pt x="144775" y="34925"/>
                </a:lnTo>
                <a:cubicBezTo>
                  <a:pt x="138063" y="19482"/>
                  <a:pt x="122674" y="8731"/>
                  <a:pt x="104775" y="8731"/>
                </a:cubicBezTo>
                <a:cubicBezTo>
                  <a:pt x="86876" y="8731"/>
                  <a:pt x="71487" y="19482"/>
                  <a:pt x="64775" y="34925"/>
                </a:cubicBezTo>
                <a:lnTo>
                  <a:pt x="17463" y="34925"/>
                </a:lnTo>
                <a:close/>
                <a:moveTo>
                  <a:pt x="17463" y="122238"/>
                </a:moveTo>
                <a:cubicBezTo>
                  <a:pt x="7804" y="122238"/>
                  <a:pt x="0" y="130041"/>
                  <a:pt x="0" y="139700"/>
                </a:cubicBezTo>
                <a:cubicBezTo>
                  <a:pt x="0" y="149359"/>
                  <a:pt x="7804" y="157163"/>
                  <a:pt x="17463" y="157163"/>
                </a:cubicBezTo>
                <a:lnTo>
                  <a:pt x="152087" y="157163"/>
                </a:lnTo>
                <a:cubicBezTo>
                  <a:pt x="158800" y="172606"/>
                  <a:pt x="174188" y="183356"/>
                  <a:pt x="192088" y="183356"/>
                </a:cubicBezTo>
                <a:cubicBezTo>
                  <a:pt x="209987" y="183356"/>
                  <a:pt x="225375" y="172606"/>
                  <a:pt x="232088" y="157163"/>
                </a:cubicBezTo>
                <a:lnTo>
                  <a:pt x="261938" y="157163"/>
                </a:lnTo>
                <a:cubicBezTo>
                  <a:pt x="271596" y="157163"/>
                  <a:pt x="279400" y="149359"/>
                  <a:pt x="279400" y="139700"/>
                </a:cubicBezTo>
                <a:cubicBezTo>
                  <a:pt x="279400" y="130041"/>
                  <a:pt x="271596" y="122238"/>
                  <a:pt x="261938" y="122238"/>
                </a:cubicBezTo>
                <a:lnTo>
                  <a:pt x="232088" y="122238"/>
                </a:lnTo>
                <a:cubicBezTo>
                  <a:pt x="225375" y="106794"/>
                  <a:pt x="209987" y="96044"/>
                  <a:pt x="192088" y="96044"/>
                </a:cubicBezTo>
                <a:cubicBezTo>
                  <a:pt x="174188" y="96044"/>
                  <a:pt x="158800" y="106794"/>
                  <a:pt x="152087" y="122238"/>
                </a:cubicBezTo>
                <a:lnTo>
                  <a:pt x="17463" y="122238"/>
                </a:lnTo>
                <a:close/>
                <a:moveTo>
                  <a:pt x="17463" y="209550"/>
                </a:moveTo>
                <a:cubicBezTo>
                  <a:pt x="7804" y="209550"/>
                  <a:pt x="0" y="217354"/>
                  <a:pt x="0" y="227013"/>
                </a:cubicBezTo>
                <a:cubicBezTo>
                  <a:pt x="0" y="236671"/>
                  <a:pt x="7804" y="244475"/>
                  <a:pt x="17463" y="244475"/>
                </a:cubicBezTo>
                <a:lnTo>
                  <a:pt x="47312" y="244475"/>
                </a:lnTo>
                <a:cubicBezTo>
                  <a:pt x="54025" y="259918"/>
                  <a:pt x="69413" y="270669"/>
                  <a:pt x="87313" y="270669"/>
                </a:cubicBezTo>
                <a:cubicBezTo>
                  <a:pt x="105212" y="270669"/>
                  <a:pt x="120600" y="259918"/>
                  <a:pt x="127313" y="244475"/>
                </a:cubicBezTo>
                <a:lnTo>
                  <a:pt x="261938" y="244475"/>
                </a:lnTo>
                <a:cubicBezTo>
                  <a:pt x="271596" y="244475"/>
                  <a:pt x="279400" y="236671"/>
                  <a:pt x="279400" y="227013"/>
                </a:cubicBezTo>
                <a:cubicBezTo>
                  <a:pt x="279400" y="217354"/>
                  <a:pt x="271596" y="209550"/>
                  <a:pt x="261938" y="209550"/>
                </a:cubicBezTo>
                <a:lnTo>
                  <a:pt x="127313" y="209550"/>
                </a:lnTo>
                <a:cubicBezTo>
                  <a:pt x="120600" y="194107"/>
                  <a:pt x="105212" y="183356"/>
                  <a:pt x="87313" y="183356"/>
                </a:cubicBezTo>
                <a:cubicBezTo>
                  <a:pt x="69413" y="183356"/>
                  <a:pt x="54025" y="194107"/>
                  <a:pt x="47312" y="209550"/>
                </a:cubicBezTo>
                <a:lnTo>
                  <a:pt x="17463" y="209550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12293600" y="56515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Simulation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criteria &amp; what-if analysis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541000" y="6858000"/>
            <a:ext cx="1016000" cy="0"/>
          </a:xfrm>
          <a:prstGeom prst="straightConnector1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0350500" y="6794500"/>
            <a:ext cx="127000" cy="127000"/>
          </a:xfrm>
          <a:prstGeom prst="ellipse">
            <a:avLst/>
          </a:prstGeom>
          <a:solidFill>
            <a:srgbClr val="38BDF8"/>
          </a:solidFill>
          <a:ln/>
          <a:effectLst>
            <a:outerShdw blurRad="101600" dist="50800" dir="2700000" algn="bl" rotWithShape="0">
              <a:srgbClr val="38BDF8">
                <a:alpha val="37647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1684000" y="6604000"/>
            <a:ext cx="3810000" cy="6985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74500" y="6769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7463" y="17463"/>
                </a:moveTo>
                <a:cubicBezTo>
                  <a:pt x="27121" y="17463"/>
                  <a:pt x="34925" y="25266"/>
                  <a:pt x="34925" y="34925"/>
                </a:cubicBezTo>
                <a:lnTo>
                  <a:pt x="34925" y="218281"/>
                </a:lnTo>
                <a:cubicBezTo>
                  <a:pt x="34925" y="223083"/>
                  <a:pt x="38854" y="227013"/>
                  <a:pt x="43656" y="227013"/>
                </a:cubicBezTo>
                <a:lnTo>
                  <a:pt x="261938" y="227013"/>
                </a:lnTo>
                <a:cubicBezTo>
                  <a:pt x="271596" y="227013"/>
                  <a:pt x="279400" y="234816"/>
                  <a:pt x="279400" y="244475"/>
                </a:cubicBezTo>
                <a:cubicBezTo>
                  <a:pt x="279400" y="254134"/>
                  <a:pt x="271596" y="261938"/>
                  <a:pt x="261938" y="261938"/>
                </a:cubicBezTo>
                <a:lnTo>
                  <a:pt x="43656" y="261938"/>
                </a:lnTo>
                <a:cubicBezTo>
                  <a:pt x="19536" y="261938"/>
                  <a:pt x="0" y="242401"/>
                  <a:pt x="0" y="218281"/>
                </a:cubicBezTo>
                <a:lnTo>
                  <a:pt x="0" y="34925"/>
                </a:lnTo>
                <a:cubicBezTo>
                  <a:pt x="0" y="25266"/>
                  <a:pt x="7804" y="17463"/>
                  <a:pt x="17463" y="17463"/>
                </a:cubicBezTo>
                <a:close/>
                <a:moveTo>
                  <a:pt x="78581" y="122238"/>
                </a:moveTo>
                <a:cubicBezTo>
                  <a:pt x="88240" y="122238"/>
                  <a:pt x="96044" y="130041"/>
                  <a:pt x="96044" y="139700"/>
                </a:cubicBezTo>
                <a:lnTo>
                  <a:pt x="96044" y="174625"/>
                </a:lnTo>
                <a:cubicBezTo>
                  <a:pt x="96044" y="184284"/>
                  <a:pt x="88240" y="192088"/>
                  <a:pt x="78581" y="192088"/>
                </a:cubicBezTo>
                <a:cubicBezTo>
                  <a:pt x="68922" y="192088"/>
                  <a:pt x="61119" y="184284"/>
                  <a:pt x="61119" y="174625"/>
                </a:cubicBezTo>
                <a:lnTo>
                  <a:pt x="61119" y="139700"/>
                </a:lnTo>
                <a:cubicBezTo>
                  <a:pt x="61119" y="130041"/>
                  <a:pt x="68922" y="122238"/>
                  <a:pt x="78581" y="122238"/>
                </a:cubicBezTo>
                <a:close/>
                <a:moveTo>
                  <a:pt x="157163" y="87313"/>
                </a:moveTo>
                <a:lnTo>
                  <a:pt x="157163" y="174625"/>
                </a:lnTo>
                <a:cubicBezTo>
                  <a:pt x="157163" y="184284"/>
                  <a:pt x="149359" y="192088"/>
                  <a:pt x="139700" y="192088"/>
                </a:cubicBezTo>
                <a:cubicBezTo>
                  <a:pt x="130041" y="192088"/>
                  <a:pt x="122238" y="184284"/>
                  <a:pt x="122238" y="174625"/>
                </a:cubicBezTo>
                <a:lnTo>
                  <a:pt x="122238" y="87313"/>
                </a:lnTo>
                <a:cubicBezTo>
                  <a:pt x="122238" y="77654"/>
                  <a:pt x="130041" y="69850"/>
                  <a:pt x="139700" y="69850"/>
                </a:cubicBezTo>
                <a:cubicBezTo>
                  <a:pt x="149359" y="69850"/>
                  <a:pt x="157163" y="77654"/>
                  <a:pt x="157163" y="87313"/>
                </a:cubicBezTo>
                <a:close/>
                <a:moveTo>
                  <a:pt x="200819" y="104775"/>
                </a:moveTo>
                <a:cubicBezTo>
                  <a:pt x="210478" y="104775"/>
                  <a:pt x="218281" y="112579"/>
                  <a:pt x="218281" y="122238"/>
                </a:cubicBezTo>
                <a:lnTo>
                  <a:pt x="218281" y="174625"/>
                </a:lnTo>
                <a:cubicBezTo>
                  <a:pt x="218281" y="184284"/>
                  <a:pt x="210478" y="192088"/>
                  <a:pt x="200819" y="192088"/>
                </a:cubicBezTo>
                <a:cubicBezTo>
                  <a:pt x="191160" y="192088"/>
                  <a:pt x="183356" y="184284"/>
                  <a:pt x="183356" y="174625"/>
                </a:cubicBezTo>
                <a:lnTo>
                  <a:pt x="183356" y="122238"/>
                </a:lnTo>
                <a:cubicBezTo>
                  <a:pt x="183356" y="112579"/>
                  <a:pt x="191160" y="104775"/>
                  <a:pt x="200819" y="104775"/>
                </a:cubicBezTo>
                <a:close/>
                <a:moveTo>
                  <a:pt x="279400" y="52388"/>
                </a:moveTo>
                <a:lnTo>
                  <a:pt x="279400" y="174625"/>
                </a:lnTo>
                <a:cubicBezTo>
                  <a:pt x="279400" y="184284"/>
                  <a:pt x="271596" y="192088"/>
                  <a:pt x="261938" y="192088"/>
                </a:cubicBezTo>
                <a:cubicBezTo>
                  <a:pt x="252279" y="192088"/>
                  <a:pt x="244475" y="184284"/>
                  <a:pt x="244475" y="174625"/>
                </a:cubicBezTo>
                <a:lnTo>
                  <a:pt x="244475" y="52388"/>
                </a:lnTo>
                <a:cubicBezTo>
                  <a:pt x="244475" y="42729"/>
                  <a:pt x="252279" y="34925"/>
                  <a:pt x="261938" y="34925"/>
                </a:cubicBezTo>
                <a:cubicBezTo>
                  <a:pt x="271596" y="34925"/>
                  <a:pt x="279400" y="42729"/>
                  <a:pt x="279400" y="5238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3" name="Text 31"/>
          <p:cNvSpPr/>
          <p:nvPr/>
        </p:nvSpPr>
        <p:spPr>
          <a:xfrm>
            <a:off x="12293600" y="66040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Bidder Comparison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Side-by-side vendor ranking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62000" y="749300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000" y="74930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SCORING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38500" y="749300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38500" y="74930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INTELLIGENCE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715000" y="749300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74930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91500" y="749300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91500" y="74930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AUDIT-READY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5113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/ 11</a:t>
            </a:r>
            <a:endParaRPr lang="en-US" sz="14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57DA6FD-E428-68C5-F36B-86C29BFB8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943100"/>
            <a:ext cx="3399693" cy="51263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E74130B-28BB-48CE-62AF-21459CF93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1508" y="2023840"/>
            <a:ext cx="5236492" cy="13498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9E9A477-7DEB-E2DE-EBE4-5EB215DF7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450" y="3302437"/>
            <a:ext cx="6017350" cy="21364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26F83BD-9515-9AC5-2D27-74E273BA4F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2356" y="5332527"/>
            <a:ext cx="5847781" cy="17623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0000" y="1270000"/>
            <a:ext cx="11430000" cy="6350000"/>
          </a:xfrm>
          <a:prstGeom prst="ellipse">
            <a:avLst/>
          </a:prstGeom>
          <a:gradFill flip="none" rotWithShape="1">
            <a:gsLst>
              <a:gs pos="0">
                <a:srgbClr val="2563EB">
                  <a:alpha val="3000"/>
                </a:srgbClr>
              </a:gs>
              <a:gs pos="100000">
                <a:srgbClr val="0B102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98500"/>
            <a:ext cx="50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7620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DECISION ENGINE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1270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Explainable, weighted, and confidence-driven procurement scoring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78000" y="2540000"/>
            <a:ext cx="2794000" cy="2794000"/>
          </a:xfrm>
          <a:prstGeom prst="ellipse">
            <a:avLst/>
          </a:prstGeom>
          <a:solidFill>
            <a:srgbClr val="111827"/>
          </a:solidFill>
          <a:ln w="25400">
            <a:solidFill>
              <a:srgbClr val="2563EB"/>
            </a:solidFill>
            <a:prstDash val="solid"/>
          </a:ln>
          <a:effectLst>
            <a:outerShdw blurRad="381000" dist="50800" dir="2700000" algn="bl" rotWithShape="0">
              <a:srgbClr val="2563EB">
                <a:alpha val="1882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95500" y="2857500"/>
            <a:ext cx="2159000" cy="2159000"/>
          </a:xfrm>
          <a:prstGeom prst="ellipse">
            <a:avLst/>
          </a:prstGeom>
          <a:gradFill flip="none" rotWithShape="1">
            <a:gsLst>
              <a:gs pos="0">
                <a:srgbClr val="2563EB">
                  <a:alpha val="13000"/>
                </a:srgbClr>
              </a:gs>
              <a:gs pos="100000">
                <a:srgbClr val="111827"/>
              </a:gs>
            </a:gsLst>
            <a:path path="circle"/>
          </a:gradFill>
          <a:ln/>
        </p:spPr>
      </p:sp>
      <p:sp>
        <p:nvSpPr>
          <p:cNvPr id="8" name="Text 6"/>
          <p:cNvSpPr/>
          <p:nvPr/>
        </p:nvSpPr>
        <p:spPr>
          <a:xfrm>
            <a:off x="2095500" y="3302000"/>
            <a:ext cx="215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87.5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95500" y="40640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0000" y="2032000"/>
            <a:ext cx="4318000" cy="3937000"/>
          </a:xfrm>
          <a:prstGeom prst="roundRect">
            <a:avLst>
              <a:gd name="adj" fmla="val 6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7500" y="2222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kern="0" spc="1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SCORING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97500" y="2794000"/>
            <a:ext cx="3302000" cy="101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13" name="Shape 11"/>
          <p:cNvSpPr/>
          <p:nvPr/>
        </p:nvSpPr>
        <p:spPr>
          <a:xfrm>
            <a:off x="5397500" y="2794000"/>
            <a:ext cx="2641600" cy="101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38BDF8"/>
              </a:gs>
            </a:gsLst>
            <a:lin ang="0" scaled="1"/>
          </a:gradFill>
          <a:ln/>
        </p:spPr>
      </p:sp>
      <p:sp>
        <p:nvSpPr>
          <p:cNvPr id="14" name="Text 12"/>
          <p:cNvSpPr/>
          <p:nvPr/>
        </p:nvSpPr>
        <p:spPr>
          <a:xfrm>
            <a:off x="5397500" y="2984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Turnover Compliance (40%)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63000" y="2984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35.0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97500" y="3492500"/>
            <a:ext cx="3302000" cy="101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17" name="Shape 15"/>
          <p:cNvSpPr/>
          <p:nvPr/>
        </p:nvSpPr>
        <p:spPr>
          <a:xfrm>
            <a:off x="5397500" y="3492500"/>
            <a:ext cx="2971800" cy="101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38BDF8"/>
              </a:gs>
            </a:gsLst>
            <a:lin ang="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5397500" y="368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Experience Threshold (30%)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63000" y="368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27.5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97500" y="4191000"/>
            <a:ext cx="3302000" cy="101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21" name="Shape 19"/>
          <p:cNvSpPr/>
          <p:nvPr/>
        </p:nvSpPr>
        <p:spPr>
          <a:xfrm>
            <a:off x="5397500" y="4191000"/>
            <a:ext cx="2311400" cy="101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38BDF8"/>
              </a:gs>
            </a:gsLst>
            <a:lin ang="0" scaled="1"/>
          </a:gradFill>
          <a:ln/>
        </p:spPr>
      </p:sp>
      <p:sp>
        <p:nvSpPr>
          <p:cNvPr id="22" name="Text 20"/>
          <p:cNvSpPr/>
          <p:nvPr/>
        </p:nvSpPr>
        <p:spPr>
          <a:xfrm>
            <a:off x="5397500" y="4381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Blacklist Compliance (20%)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63000" y="4381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20.0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97500" y="4889500"/>
            <a:ext cx="3302000" cy="101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25" name="Shape 23"/>
          <p:cNvSpPr/>
          <p:nvPr/>
        </p:nvSpPr>
        <p:spPr>
          <a:xfrm>
            <a:off x="5397500" y="4889500"/>
            <a:ext cx="1651000" cy="101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38BDF8"/>
              </a:gs>
            </a:gsLst>
            <a:lin ang="0" scaled="1"/>
          </a:gradFill>
          <a:ln/>
        </p:spPr>
      </p:sp>
      <p:sp>
        <p:nvSpPr>
          <p:cNvPr id="26" name="Text 24"/>
          <p:cNvSpPr/>
          <p:nvPr/>
        </p:nvSpPr>
        <p:spPr>
          <a:xfrm>
            <a:off x="5397500" y="5080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Competitiveness (10%)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63000" y="5080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97500" y="5461000"/>
            <a:ext cx="2159000" cy="406400"/>
          </a:xfrm>
          <a:prstGeom prst="roundRect">
            <a:avLst>
              <a:gd name="adj" fmla="val 12000"/>
            </a:avLst>
          </a:prstGeom>
          <a:solidFill>
            <a:srgbClr val="22C55E">
              <a:alpha val="12549"/>
            </a:srgbClr>
          </a:solidFill>
          <a:ln w="12700">
            <a:solidFill>
              <a:srgbClr val="22C55E">
                <a:alpha val="37647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7500" y="54610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kern="0" spc="1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HIGH CONFIDENCE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906000" y="2032000"/>
            <a:ext cx="5588000" cy="3810000"/>
          </a:xfrm>
          <a:prstGeom prst="roundRect">
            <a:avLst>
              <a:gd name="adj" fmla="val 6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23500" y="2222500"/>
            <a:ext cx="495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kern="0" spc="1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INTELLIGENCE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223500" y="279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10668000" y="27686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Risk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4351000" y="2768600"/>
            <a:ext cx="889000" cy="355600"/>
          </a:xfrm>
          <a:prstGeom prst="roundRect">
            <a:avLst>
              <a:gd name="adj" fmla="val 12000"/>
            </a:avLst>
          </a:prstGeom>
          <a:solidFill>
            <a:srgbClr val="22C55E">
              <a:alpha val="12549"/>
            </a:srgbClr>
          </a:solidFill>
          <a:ln w="12700">
            <a:solidFill>
              <a:srgbClr val="22C55E">
                <a:alpha val="37647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351000" y="2768600"/>
            <a:ext cx="88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kern="0" spc="1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223500" y="336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10668000" y="33401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Capability Risk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4351000" y="3340100"/>
            <a:ext cx="889000" cy="355600"/>
          </a:xfrm>
          <a:prstGeom prst="roundRect">
            <a:avLst>
              <a:gd name="adj" fmla="val 12000"/>
            </a:avLst>
          </a:prstGeom>
          <a:solidFill>
            <a:srgbClr val="22C55E">
              <a:alpha val="12549"/>
            </a:srgbClr>
          </a:solidFill>
          <a:ln w="12700">
            <a:solidFill>
              <a:srgbClr val="22C55E">
                <a:alpha val="37647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351000" y="3340100"/>
            <a:ext cx="88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kern="0" spc="1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223500" y="393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10668000" y="39116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 Risk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4351000" y="3911600"/>
            <a:ext cx="889000" cy="355600"/>
          </a:xfrm>
          <a:prstGeom prst="roundRect">
            <a:avLst>
              <a:gd name="adj" fmla="val 12000"/>
            </a:avLst>
          </a:prstGeom>
          <a:solidFill>
            <a:srgbClr val="EF4444">
              <a:alpha val="12549"/>
            </a:srgbClr>
          </a:solidFill>
          <a:ln w="12700">
            <a:solidFill>
              <a:srgbClr val="EF4444">
                <a:alpha val="37647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351000" y="3911600"/>
            <a:ext cx="88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kern="0" spc="100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223500" y="4508500"/>
            <a:ext cx="5016500" cy="127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10223500" y="4699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ALIGNMENT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3716000" y="4699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92% MATCH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62000" y="6223000"/>
            <a:ext cx="14732000" cy="17780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795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9" name="Text 47"/>
          <p:cNvSpPr/>
          <p:nvPr/>
        </p:nvSpPr>
        <p:spPr>
          <a:xfrm>
            <a:off x="1651000" y="641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kern="0" spc="1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REASONING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79500" y="69215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"Bidder meets minimum turnover threshold (₹50Cr vs required ₹25Cr). 15+ years of relevant experience exceeds policy requirement. No blacklist records found. Price quote is within competitive range. </a:t>
            </a:r>
            <a:r>
              <a:rPr lang="en-US" sz="15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for shortlisting.</a:t>
            </a:r>
            <a:r>
              <a:rPr lang="en-US" sz="15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5113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/ 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270000"/>
            <a:ext cx="6350000" cy="5080000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6000"/>
                </a:srgbClr>
              </a:gs>
              <a:gs pos="100000">
                <a:srgbClr val="0B102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98500"/>
            <a:ext cx="50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8890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MULTI-BIDDER COMPARISON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1270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vendor ranking with recommendation engine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05000"/>
          <a:ext cx="14732000" cy="4318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7242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VENDOR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SCORE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TURNOVER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EXPERIENCE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RISK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STATUS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RANK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39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BD5E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TechFlow Solutions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8BDF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92.4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BD5E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₹85 Cr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BD5E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18 Years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QUALIFIED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8BDF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#1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>
                        <a:alpha val="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39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BD5E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DataCore Systems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8BDF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87.5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BD5E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₹62 Cr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BD5E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15 Years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59E0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MEDIUM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QUALIFIED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#2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39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BD5E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CloudBridge Inc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8BDF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74.2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BD5E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₹28 Cr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BD5E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 Years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59E0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MEDIUM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59E0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MARGINAL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#3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39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BD5E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Vertex Dynamics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F444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45.0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BD5E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₹12 Cr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BD5E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 Years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F444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F444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REJECTED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F444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#4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>
                        <a:alpha val="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762000" y="6604000"/>
            <a:ext cx="14961476" cy="18415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85850" y="6921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14325" y="0"/>
                </a:moveTo>
                <a:cubicBezTo>
                  <a:pt x="314325" y="-15806"/>
                  <a:pt x="301556" y="-28575"/>
                  <a:pt x="285750" y="-28575"/>
                </a:cubicBezTo>
                <a:cubicBezTo>
                  <a:pt x="269944" y="-28575"/>
                  <a:pt x="257175" y="-15806"/>
                  <a:pt x="257175" y="0"/>
                </a:cubicBezTo>
                <a:lnTo>
                  <a:pt x="257175" y="57150"/>
                </a:lnTo>
                <a:lnTo>
                  <a:pt x="171450" y="57150"/>
                </a:lnTo>
                <a:cubicBezTo>
                  <a:pt x="124123" y="57150"/>
                  <a:pt x="85725" y="95548"/>
                  <a:pt x="85725" y="142875"/>
                </a:cubicBezTo>
                <a:lnTo>
                  <a:pt x="85725" y="342900"/>
                </a:lnTo>
                <a:cubicBezTo>
                  <a:pt x="85725" y="390227"/>
                  <a:pt x="124123" y="428625"/>
                  <a:pt x="171450" y="428625"/>
                </a:cubicBezTo>
                <a:lnTo>
                  <a:pt x="400050" y="428625"/>
                </a:lnTo>
                <a:cubicBezTo>
                  <a:pt x="447377" y="428625"/>
                  <a:pt x="485775" y="390227"/>
                  <a:pt x="485775" y="342900"/>
                </a:cubicBezTo>
                <a:lnTo>
                  <a:pt x="485775" y="142875"/>
                </a:lnTo>
                <a:cubicBezTo>
                  <a:pt x="485775" y="95548"/>
                  <a:pt x="447377" y="57150"/>
                  <a:pt x="400050" y="57150"/>
                </a:cubicBezTo>
                <a:lnTo>
                  <a:pt x="314325" y="57150"/>
                </a:lnTo>
                <a:lnTo>
                  <a:pt x="314325" y="0"/>
                </a:lnTo>
                <a:close/>
                <a:moveTo>
                  <a:pt x="142875" y="328613"/>
                </a:moveTo>
                <a:cubicBezTo>
                  <a:pt x="142875" y="316736"/>
                  <a:pt x="152430" y="307181"/>
                  <a:pt x="164306" y="307181"/>
                </a:cubicBezTo>
                <a:lnTo>
                  <a:pt x="192881" y="307181"/>
                </a:lnTo>
                <a:cubicBezTo>
                  <a:pt x="204758" y="307181"/>
                  <a:pt x="214313" y="316736"/>
                  <a:pt x="214313" y="328613"/>
                </a:cubicBezTo>
                <a:cubicBezTo>
                  <a:pt x="214313" y="340489"/>
                  <a:pt x="204758" y="350044"/>
                  <a:pt x="192881" y="350044"/>
                </a:cubicBezTo>
                <a:lnTo>
                  <a:pt x="164306" y="350044"/>
                </a:lnTo>
                <a:cubicBezTo>
                  <a:pt x="152430" y="350044"/>
                  <a:pt x="142875" y="340489"/>
                  <a:pt x="142875" y="328613"/>
                </a:cubicBezTo>
                <a:close/>
                <a:moveTo>
                  <a:pt x="250031" y="328613"/>
                </a:moveTo>
                <a:cubicBezTo>
                  <a:pt x="250031" y="316736"/>
                  <a:pt x="259586" y="307181"/>
                  <a:pt x="271463" y="307181"/>
                </a:cubicBezTo>
                <a:lnTo>
                  <a:pt x="300038" y="307181"/>
                </a:lnTo>
                <a:cubicBezTo>
                  <a:pt x="311914" y="307181"/>
                  <a:pt x="321469" y="316736"/>
                  <a:pt x="321469" y="328613"/>
                </a:cubicBezTo>
                <a:cubicBezTo>
                  <a:pt x="321469" y="340489"/>
                  <a:pt x="311914" y="350044"/>
                  <a:pt x="300038" y="350044"/>
                </a:cubicBezTo>
                <a:lnTo>
                  <a:pt x="271463" y="350044"/>
                </a:lnTo>
                <a:cubicBezTo>
                  <a:pt x="259586" y="350044"/>
                  <a:pt x="250031" y="340489"/>
                  <a:pt x="250031" y="328613"/>
                </a:cubicBezTo>
                <a:close/>
                <a:moveTo>
                  <a:pt x="357188" y="328613"/>
                </a:moveTo>
                <a:cubicBezTo>
                  <a:pt x="357188" y="316736"/>
                  <a:pt x="366742" y="307181"/>
                  <a:pt x="378619" y="307181"/>
                </a:cubicBezTo>
                <a:lnTo>
                  <a:pt x="407194" y="307181"/>
                </a:lnTo>
                <a:cubicBezTo>
                  <a:pt x="419070" y="307181"/>
                  <a:pt x="428625" y="316736"/>
                  <a:pt x="428625" y="328613"/>
                </a:cubicBezTo>
                <a:cubicBezTo>
                  <a:pt x="428625" y="340489"/>
                  <a:pt x="419070" y="350044"/>
                  <a:pt x="407194" y="350044"/>
                </a:cubicBezTo>
                <a:lnTo>
                  <a:pt x="378619" y="350044"/>
                </a:lnTo>
                <a:cubicBezTo>
                  <a:pt x="366742" y="350044"/>
                  <a:pt x="357188" y="340489"/>
                  <a:pt x="357188" y="328613"/>
                </a:cubicBezTo>
                <a:close/>
                <a:moveTo>
                  <a:pt x="200025" y="157163"/>
                </a:moveTo>
                <a:cubicBezTo>
                  <a:pt x="223681" y="157163"/>
                  <a:pt x="242888" y="176369"/>
                  <a:pt x="242888" y="200025"/>
                </a:cubicBezTo>
                <a:cubicBezTo>
                  <a:pt x="242888" y="223681"/>
                  <a:pt x="223681" y="242888"/>
                  <a:pt x="200025" y="242888"/>
                </a:cubicBezTo>
                <a:cubicBezTo>
                  <a:pt x="176369" y="242888"/>
                  <a:pt x="157163" y="223681"/>
                  <a:pt x="157163" y="200025"/>
                </a:cubicBezTo>
                <a:cubicBezTo>
                  <a:pt x="157163" y="176369"/>
                  <a:pt x="176369" y="157163"/>
                  <a:pt x="200025" y="157163"/>
                </a:cubicBezTo>
                <a:close/>
                <a:moveTo>
                  <a:pt x="328613" y="200025"/>
                </a:moveTo>
                <a:cubicBezTo>
                  <a:pt x="328613" y="176369"/>
                  <a:pt x="347819" y="157163"/>
                  <a:pt x="371475" y="157163"/>
                </a:cubicBezTo>
                <a:cubicBezTo>
                  <a:pt x="395131" y="157163"/>
                  <a:pt x="414338" y="176369"/>
                  <a:pt x="414338" y="200025"/>
                </a:cubicBezTo>
                <a:cubicBezTo>
                  <a:pt x="414338" y="223681"/>
                  <a:pt x="395131" y="242888"/>
                  <a:pt x="371475" y="242888"/>
                </a:cubicBezTo>
                <a:cubicBezTo>
                  <a:pt x="347819" y="242888"/>
                  <a:pt x="328613" y="223681"/>
                  <a:pt x="328613" y="200025"/>
                </a:cubicBezTo>
                <a:close/>
                <a:moveTo>
                  <a:pt x="57150" y="200025"/>
                </a:moveTo>
                <a:cubicBezTo>
                  <a:pt x="57150" y="184219"/>
                  <a:pt x="44381" y="171450"/>
                  <a:pt x="28575" y="171450"/>
                </a:cubicBezTo>
                <a:cubicBezTo>
                  <a:pt x="12769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2769" y="314325"/>
                  <a:pt x="28575" y="314325"/>
                </a:cubicBezTo>
                <a:cubicBezTo>
                  <a:pt x="44381" y="314325"/>
                  <a:pt x="57150" y="301556"/>
                  <a:pt x="57150" y="285750"/>
                </a:cubicBezTo>
                <a:lnTo>
                  <a:pt x="57150" y="200025"/>
                </a:lnTo>
                <a:close/>
                <a:moveTo>
                  <a:pt x="542925" y="171450"/>
                </a:moveTo>
                <a:cubicBezTo>
                  <a:pt x="527119" y="171450"/>
                  <a:pt x="514350" y="184219"/>
                  <a:pt x="514350" y="200025"/>
                </a:cubicBezTo>
                <a:lnTo>
                  <a:pt x="514350" y="285750"/>
                </a:lnTo>
                <a:cubicBezTo>
                  <a:pt x="514350" y="301556"/>
                  <a:pt x="527119" y="314325"/>
                  <a:pt x="542925" y="314325"/>
                </a:cubicBezTo>
                <a:cubicBezTo>
                  <a:pt x="558731" y="314325"/>
                  <a:pt x="571500" y="301556"/>
                  <a:pt x="571500" y="285750"/>
                </a:cubicBezTo>
                <a:lnTo>
                  <a:pt x="571500" y="200025"/>
                </a:lnTo>
                <a:cubicBezTo>
                  <a:pt x="571500" y="184219"/>
                  <a:pt x="558731" y="171450"/>
                  <a:pt x="542925" y="17145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9" name="Text 6"/>
          <p:cNvSpPr/>
          <p:nvPr/>
        </p:nvSpPr>
        <p:spPr>
          <a:xfrm>
            <a:off x="1841500" y="679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kern="0" spc="1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RECOMMENDATION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42000" y="6794500"/>
            <a:ext cx="1778000" cy="355600"/>
          </a:xfrm>
          <a:prstGeom prst="roundRect">
            <a:avLst>
              <a:gd name="adj" fmla="val 12000"/>
            </a:avLst>
          </a:prstGeom>
          <a:solidFill>
            <a:srgbClr val="2563EB">
              <a:alpha val="12549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42000" y="679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kern="0" spc="1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CONFIDENCE: 94%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74676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"TechFlow Solutions ranks #1 with highest composite score (92.4), lowest risk profile, and full policy compliance. </a:t>
            </a:r>
            <a:r>
              <a:rPr lang="en-US" sz="15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as primary bidder.</a:t>
            </a:r>
            <a:r>
              <a:rPr lang="en-US" sz="15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DataCore Systems qualifies as viable alternative."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113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/ 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0000" y="1270000"/>
            <a:ext cx="7620000" cy="6350000"/>
          </a:xfrm>
          <a:prstGeom prst="ellipse">
            <a:avLst/>
          </a:prstGeom>
          <a:gradFill flip="none" rotWithShape="1">
            <a:gsLst>
              <a:gs pos="0">
                <a:srgbClr val="38BDF8">
                  <a:alpha val="6000"/>
                </a:srgbClr>
              </a:gs>
              <a:gs pos="100000">
                <a:srgbClr val="0B102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98500"/>
            <a:ext cx="50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8890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TRAIL &amp; GOVERNANCE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13335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i="1" kern="0" spc="1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procurement decision becomes transparent and defensible.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7112000" cy="59690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032000"/>
            <a:ext cx="7112000" cy="635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032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LOG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19950" y="2184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38100"/>
                </a:moveTo>
                <a:cubicBezTo>
                  <a:pt x="234553" y="38100"/>
                  <a:pt x="285750" y="89297"/>
                  <a:pt x="285750" y="152400"/>
                </a:cubicBezTo>
                <a:cubicBezTo>
                  <a:pt x="285750" y="215503"/>
                  <a:pt x="234553" y="266700"/>
                  <a:pt x="171450" y="266700"/>
                </a:cubicBezTo>
                <a:cubicBezTo>
                  <a:pt x="132636" y="266700"/>
                  <a:pt x="98286" y="247352"/>
                  <a:pt x="77629" y="217706"/>
                </a:cubicBezTo>
                <a:cubicBezTo>
                  <a:pt x="71616" y="209074"/>
                  <a:pt x="59710" y="206990"/>
                  <a:pt x="51078" y="213003"/>
                </a:cubicBezTo>
                <a:cubicBezTo>
                  <a:pt x="42446" y="219015"/>
                  <a:pt x="40362" y="230922"/>
                  <a:pt x="46375" y="239554"/>
                </a:cubicBezTo>
                <a:cubicBezTo>
                  <a:pt x="73878" y="278963"/>
                  <a:pt x="119658" y="304800"/>
                  <a:pt x="171450" y="304800"/>
                </a:cubicBezTo>
                <a:cubicBezTo>
                  <a:pt x="255627" y="304800"/>
                  <a:pt x="323850" y="236577"/>
                  <a:pt x="323850" y="152400"/>
                </a:cubicBezTo>
                <a:cubicBezTo>
                  <a:pt x="323850" y="68223"/>
                  <a:pt x="255627" y="0"/>
                  <a:pt x="171450" y="0"/>
                </a:cubicBezTo>
                <a:cubicBezTo>
                  <a:pt x="120432" y="0"/>
                  <a:pt x="75307" y="25063"/>
                  <a:pt x="47625" y="63520"/>
                </a:cubicBezTo>
                <a:lnTo>
                  <a:pt x="47625" y="47625"/>
                </a:lnTo>
                <a:cubicBezTo>
                  <a:pt x="47625" y="37088"/>
                  <a:pt x="39112" y="28575"/>
                  <a:pt x="28575" y="28575"/>
                </a:cubicBezTo>
                <a:cubicBezTo>
                  <a:pt x="18038" y="28575"/>
                  <a:pt x="9525" y="37088"/>
                  <a:pt x="9525" y="47625"/>
                </a:cubicBezTo>
                <a:lnTo>
                  <a:pt x="9525" y="114300"/>
                </a:lnTo>
                <a:cubicBezTo>
                  <a:pt x="9525" y="124837"/>
                  <a:pt x="18038" y="133350"/>
                  <a:pt x="28575" y="133350"/>
                </a:cubicBezTo>
                <a:lnTo>
                  <a:pt x="43220" y="133350"/>
                </a:lnTo>
                <a:cubicBezTo>
                  <a:pt x="43517" y="133350"/>
                  <a:pt x="43815" y="133350"/>
                  <a:pt x="44113" y="133350"/>
                </a:cubicBezTo>
                <a:lnTo>
                  <a:pt x="95310" y="133350"/>
                </a:lnTo>
                <a:cubicBezTo>
                  <a:pt x="105847" y="133350"/>
                  <a:pt x="114360" y="124837"/>
                  <a:pt x="114360" y="114300"/>
                </a:cubicBezTo>
                <a:cubicBezTo>
                  <a:pt x="114360" y="103763"/>
                  <a:pt x="105847" y="95250"/>
                  <a:pt x="95310" y="95250"/>
                </a:cubicBezTo>
                <a:lnTo>
                  <a:pt x="72509" y="95250"/>
                </a:lnTo>
                <a:cubicBezTo>
                  <a:pt x="92214" y="61079"/>
                  <a:pt x="129183" y="38100"/>
                  <a:pt x="171450" y="38100"/>
                </a:cubicBezTo>
                <a:close/>
                <a:moveTo>
                  <a:pt x="185738" y="90488"/>
                </a:moveTo>
                <a:cubicBezTo>
                  <a:pt x="185738" y="82570"/>
                  <a:pt x="179368" y="76200"/>
                  <a:pt x="171450" y="76200"/>
                </a:cubicBezTo>
                <a:cubicBezTo>
                  <a:pt x="163532" y="76200"/>
                  <a:pt x="157163" y="82570"/>
                  <a:pt x="157163" y="90488"/>
                </a:cubicBezTo>
                <a:lnTo>
                  <a:pt x="157163" y="152400"/>
                </a:lnTo>
                <a:cubicBezTo>
                  <a:pt x="157163" y="156210"/>
                  <a:pt x="158651" y="159841"/>
                  <a:pt x="161330" y="162520"/>
                </a:cubicBezTo>
                <a:lnTo>
                  <a:pt x="204192" y="205383"/>
                </a:lnTo>
                <a:cubicBezTo>
                  <a:pt x="209788" y="210979"/>
                  <a:pt x="218837" y="210979"/>
                  <a:pt x="224373" y="205383"/>
                </a:cubicBezTo>
                <a:cubicBezTo>
                  <a:pt x="229910" y="199787"/>
                  <a:pt x="229969" y="190738"/>
                  <a:pt x="224373" y="185202"/>
                </a:cubicBezTo>
                <a:lnTo>
                  <a:pt x="185678" y="146506"/>
                </a:lnTo>
                <a:lnTo>
                  <a:pt x="185678" y="90488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2857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14:32:05 UTC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67000" y="2832100"/>
            <a:ext cx="1143000" cy="279400"/>
          </a:xfrm>
          <a:prstGeom prst="roundRect">
            <a:avLst>
              <a:gd name="adj" fmla="val 12000"/>
            </a:avLst>
          </a:prstGeom>
          <a:solidFill>
            <a:srgbClr val="2563EB">
              <a:alpha val="12549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67000" y="2832100"/>
            <a:ext cx="114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kern="0" spc="1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3175000"/>
            <a:ext cx="660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parsed: 4 bidder submissions extracted from tender_2024_Q3.pdf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3746500"/>
            <a:ext cx="6604000" cy="127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3937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14:32:18 UTC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67000" y="3911600"/>
            <a:ext cx="1143000" cy="279400"/>
          </a:xfrm>
          <a:prstGeom prst="roundRect">
            <a:avLst>
              <a:gd name="adj" fmla="val 12000"/>
            </a:avLst>
          </a:prstGeom>
          <a:solidFill>
            <a:srgbClr val="8B5CF6">
              <a:alpha val="12549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67000" y="3911600"/>
            <a:ext cx="114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kern="0" spc="1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4254500"/>
            <a:ext cx="660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scores calculated for all 4 bidders against policy criteria v2.1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6000" y="4826000"/>
            <a:ext cx="6604000" cy="127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5016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14:32:31 UTC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667000" y="4991100"/>
            <a:ext cx="1143000" cy="279400"/>
          </a:xfrm>
          <a:prstGeom prst="roundRect">
            <a:avLst>
              <a:gd name="adj" fmla="val 12000"/>
            </a:avLst>
          </a:prstGeom>
          <a:solidFill>
            <a:srgbClr val="22C55E">
              <a:alpha val="12549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67000" y="4991100"/>
            <a:ext cx="114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kern="0" spc="1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5334000"/>
            <a:ext cx="660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Multi-bidder comparison generated with risk matrix and ranking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6000" y="5905500"/>
            <a:ext cx="6604000" cy="127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609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14:32:45 UTC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667000" y="6070600"/>
            <a:ext cx="1397000" cy="279400"/>
          </a:xfrm>
          <a:prstGeom prst="roundRect">
            <a:avLst>
              <a:gd name="adj" fmla="val 12000"/>
            </a:avLst>
          </a:prstGeom>
          <a:solidFill>
            <a:srgbClr val="F59E0B">
              <a:alpha val="12549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67000" y="6070600"/>
            <a:ext cx="139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kern="0" spc="1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6413500"/>
            <a:ext cx="660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recommendation issued: TechFlow Solutions (#1) with 94% confidence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16000" y="6985000"/>
            <a:ext cx="6604000" cy="127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7175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14:32:52 UTC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667000" y="7150100"/>
            <a:ext cx="889000" cy="279400"/>
          </a:xfrm>
          <a:prstGeom prst="roundRect">
            <a:avLst>
              <a:gd name="adj" fmla="val 12000"/>
            </a:avLst>
          </a:prstGeom>
          <a:solidFill>
            <a:srgbClr val="EF4444">
              <a:alpha val="12549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67000" y="7150100"/>
            <a:ext cx="88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kern="0" spc="100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6000" y="7493000"/>
            <a:ext cx="660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snapshot stored to Supabase with full policy configuration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82000" y="2032000"/>
            <a:ext cx="7112000" cy="1460500"/>
          </a:xfrm>
          <a:prstGeom prst="roundRect">
            <a:avLst>
              <a:gd name="adj" fmla="val 6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63000" y="241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6" name="Text 34"/>
          <p:cNvSpPr/>
          <p:nvPr/>
        </p:nvSpPr>
        <p:spPr>
          <a:xfrm>
            <a:off x="9398000" y="2222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398000" y="2603500"/>
            <a:ext cx="5715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evaluation tied to a user, timestamp, and policy version. No anonymous decisions.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82000" y="3683000"/>
            <a:ext cx="7112000" cy="1460500"/>
          </a:xfrm>
          <a:prstGeom prst="roundRect">
            <a:avLst>
              <a:gd name="adj" fmla="val 6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63000" y="400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82550" y="171450"/>
                </a:moveTo>
                <a:lnTo>
                  <a:pt x="82550" y="222250"/>
                </a:lnTo>
                <a:cubicBezTo>
                  <a:pt x="82550" y="232807"/>
                  <a:pt x="91043" y="241300"/>
                  <a:pt x="101600" y="241300"/>
                </a:cubicBezTo>
                <a:cubicBezTo>
                  <a:pt x="112157" y="241300"/>
                  <a:pt x="120650" y="232807"/>
                  <a:pt x="120650" y="222250"/>
                </a:cubicBezTo>
                <a:lnTo>
                  <a:pt x="120650" y="171450"/>
                </a:lnTo>
                <a:cubicBezTo>
                  <a:pt x="120650" y="160893"/>
                  <a:pt x="112157" y="152400"/>
                  <a:pt x="101600" y="152400"/>
                </a:cubicBezTo>
                <a:cubicBezTo>
                  <a:pt x="91043" y="152400"/>
                  <a:pt x="82550" y="160893"/>
                  <a:pt x="82550" y="171450"/>
                </a:cubicBezTo>
                <a:close/>
                <a:moveTo>
                  <a:pt x="146050" y="95250"/>
                </a:moveTo>
                <a:lnTo>
                  <a:pt x="146050" y="222250"/>
                </a:lnTo>
                <a:cubicBezTo>
                  <a:pt x="146050" y="232807"/>
                  <a:pt x="154543" y="241300"/>
                  <a:pt x="165100" y="241300"/>
                </a:cubicBezTo>
                <a:cubicBezTo>
                  <a:pt x="175657" y="241300"/>
                  <a:pt x="184150" y="232807"/>
                  <a:pt x="184150" y="222250"/>
                </a:cubicBezTo>
                <a:lnTo>
                  <a:pt x="184150" y="95250"/>
                </a:lnTo>
                <a:cubicBezTo>
                  <a:pt x="184150" y="84693"/>
                  <a:pt x="175657" y="76200"/>
                  <a:pt x="165100" y="76200"/>
                </a:cubicBezTo>
                <a:cubicBezTo>
                  <a:pt x="154543" y="76200"/>
                  <a:pt x="146050" y="84693"/>
                  <a:pt x="146050" y="95250"/>
                </a:cubicBezTo>
                <a:close/>
                <a:moveTo>
                  <a:pt x="209550" y="146050"/>
                </a:moveTo>
                <a:lnTo>
                  <a:pt x="209550" y="222250"/>
                </a:lnTo>
                <a:cubicBezTo>
                  <a:pt x="209550" y="232807"/>
                  <a:pt x="218043" y="241300"/>
                  <a:pt x="228600" y="241300"/>
                </a:cubicBezTo>
                <a:cubicBezTo>
                  <a:pt x="239157" y="241300"/>
                  <a:pt x="247650" y="232807"/>
                  <a:pt x="247650" y="222250"/>
                </a:cubicBezTo>
                <a:lnTo>
                  <a:pt x="247650" y="146050"/>
                </a:lnTo>
                <a:cubicBezTo>
                  <a:pt x="247650" y="135493"/>
                  <a:pt x="239157" y="127000"/>
                  <a:pt x="228600" y="127000"/>
                </a:cubicBezTo>
                <a:cubicBezTo>
                  <a:pt x="218043" y="127000"/>
                  <a:pt x="209550" y="135493"/>
                  <a:pt x="209550" y="14605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0" name="Text 38"/>
          <p:cNvSpPr/>
          <p:nvPr/>
        </p:nvSpPr>
        <p:spPr>
          <a:xfrm>
            <a:off x="9398000" y="3810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Traceability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398000" y="4191000"/>
            <a:ext cx="5715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chain of custody from document upload to final recommendation. Fully auditable.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82000" y="5334000"/>
            <a:ext cx="7112000" cy="1460500"/>
          </a:xfrm>
          <a:prstGeom prst="roundRect">
            <a:avLst>
              <a:gd name="adj" fmla="val 6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37600" y="5588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34620" y="121761"/>
                </a:moveTo>
                <a:lnTo>
                  <a:pt x="119777" y="106918"/>
                </a:lnTo>
                <a:cubicBezTo>
                  <a:pt x="109855" y="96996"/>
                  <a:pt x="109855" y="80883"/>
                  <a:pt x="119777" y="70961"/>
                </a:cubicBezTo>
                <a:lnTo>
                  <a:pt x="210820" y="-20161"/>
                </a:lnTo>
                <a:cubicBezTo>
                  <a:pt x="220742" y="-30083"/>
                  <a:pt x="236855" y="-30083"/>
                  <a:pt x="246777" y="-20161"/>
                </a:cubicBezTo>
                <a:lnTo>
                  <a:pt x="261620" y="-5239"/>
                </a:lnTo>
                <a:cubicBezTo>
                  <a:pt x="271542" y="4683"/>
                  <a:pt x="271542" y="20796"/>
                  <a:pt x="261620" y="30718"/>
                </a:cubicBezTo>
                <a:lnTo>
                  <a:pt x="170577" y="121761"/>
                </a:lnTo>
                <a:cubicBezTo>
                  <a:pt x="160655" y="131683"/>
                  <a:pt x="144542" y="131683"/>
                  <a:pt x="134620" y="121761"/>
                </a:cubicBezTo>
                <a:close/>
                <a:moveTo>
                  <a:pt x="219075" y="168037"/>
                </a:moveTo>
                <a:lnTo>
                  <a:pt x="194151" y="143113"/>
                </a:lnTo>
                <a:lnTo>
                  <a:pt x="283051" y="54213"/>
                </a:lnTo>
                <a:lnTo>
                  <a:pt x="377825" y="148987"/>
                </a:lnTo>
                <a:lnTo>
                  <a:pt x="288925" y="237887"/>
                </a:lnTo>
                <a:lnTo>
                  <a:pt x="264001" y="212963"/>
                </a:lnTo>
                <a:lnTo>
                  <a:pt x="79851" y="397113"/>
                </a:lnTo>
                <a:cubicBezTo>
                  <a:pt x="67469" y="409496"/>
                  <a:pt x="47387" y="409496"/>
                  <a:pt x="34925" y="397113"/>
                </a:cubicBezTo>
                <a:cubicBezTo>
                  <a:pt x="22463" y="384731"/>
                  <a:pt x="22543" y="364649"/>
                  <a:pt x="34925" y="352187"/>
                </a:cubicBezTo>
                <a:lnTo>
                  <a:pt x="219075" y="168037"/>
                </a:lnTo>
                <a:close/>
                <a:moveTo>
                  <a:pt x="310277" y="297339"/>
                </a:moveTo>
                <a:cubicBezTo>
                  <a:pt x="300355" y="287417"/>
                  <a:pt x="300355" y="271304"/>
                  <a:pt x="310277" y="261382"/>
                </a:cubicBezTo>
                <a:lnTo>
                  <a:pt x="401320" y="170339"/>
                </a:lnTo>
                <a:cubicBezTo>
                  <a:pt x="411242" y="160417"/>
                  <a:pt x="427355" y="160417"/>
                  <a:pt x="437277" y="170339"/>
                </a:cubicBezTo>
                <a:lnTo>
                  <a:pt x="452120" y="185182"/>
                </a:lnTo>
                <a:cubicBezTo>
                  <a:pt x="462042" y="195104"/>
                  <a:pt x="462042" y="211217"/>
                  <a:pt x="452120" y="221139"/>
                </a:cubicBezTo>
                <a:lnTo>
                  <a:pt x="361077" y="312261"/>
                </a:lnTo>
                <a:cubicBezTo>
                  <a:pt x="351155" y="322183"/>
                  <a:pt x="335042" y="322183"/>
                  <a:pt x="325120" y="312261"/>
                </a:cubicBezTo>
                <a:lnTo>
                  <a:pt x="310277" y="297418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4" name="Text 42"/>
          <p:cNvSpPr/>
          <p:nvPr/>
        </p:nvSpPr>
        <p:spPr>
          <a:xfrm>
            <a:off x="9398000" y="5397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 Ready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398000" y="5778500"/>
            <a:ext cx="5715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Supabase PostgreSQL persistence ensures records survive audits, reviews, and compliance checks.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82000" y="6794500"/>
            <a:ext cx="7112000" cy="1079500"/>
          </a:xfrm>
          <a:prstGeom prst="roundRect">
            <a:avLst>
              <a:gd name="adj" fmla="val 6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88400" y="70866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8" name="Text 46"/>
          <p:cNvSpPr/>
          <p:nvPr/>
        </p:nvSpPr>
        <p:spPr>
          <a:xfrm>
            <a:off x="9398000" y="6921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Supabase Backend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398000" y="7302500"/>
            <a:ext cx="571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Persistent storage for evaluations, audit history, and vendor records.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5113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/ 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0" y="1270000"/>
            <a:ext cx="8890000" cy="6350000"/>
          </a:xfrm>
          <a:prstGeom prst="ellipse">
            <a:avLst/>
          </a:prstGeom>
          <a:gradFill flip="none" rotWithShape="1">
            <a:gsLst>
              <a:gs pos="0">
                <a:srgbClr val="2563EB">
                  <a:alpha val="3000"/>
                </a:srgbClr>
              </a:gs>
              <a:gs pos="100000">
                <a:srgbClr val="0B102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98500"/>
            <a:ext cx="50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7620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PLATFORM FLOW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1270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procurement intelligence pipeline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540000"/>
            <a:ext cx="2159000" cy="17780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8600" y="2794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171450" y="571500"/>
                </a:moveTo>
                <a:cubicBezTo>
                  <a:pt x="76795" y="571500"/>
                  <a:pt x="0" y="494705"/>
                  <a:pt x="0" y="400050"/>
                </a:cubicBezTo>
                <a:cubicBezTo>
                  <a:pt x="0" y="324564"/>
                  <a:pt x="48816" y="260509"/>
                  <a:pt x="116562" y="237530"/>
                </a:cubicBezTo>
                <a:cubicBezTo>
                  <a:pt x="115014" y="228362"/>
                  <a:pt x="114300" y="219075"/>
                  <a:pt x="114300" y="209550"/>
                </a:cubicBezTo>
                <a:cubicBezTo>
                  <a:pt x="114300" y="114895"/>
                  <a:pt x="191095" y="38100"/>
                  <a:pt x="285750" y="38100"/>
                </a:cubicBezTo>
                <a:cubicBezTo>
                  <a:pt x="351711" y="38100"/>
                  <a:pt x="408980" y="75367"/>
                  <a:pt x="437674" y="129897"/>
                </a:cubicBezTo>
                <a:cubicBezTo>
                  <a:pt x="454581" y="120015"/>
                  <a:pt x="474345" y="114300"/>
                  <a:pt x="495300" y="114300"/>
                </a:cubicBezTo>
                <a:cubicBezTo>
                  <a:pt x="558403" y="114300"/>
                  <a:pt x="609600" y="165497"/>
                  <a:pt x="609600" y="228600"/>
                </a:cubicBezTo>
                <a:cubicBezTo>
                  <a:pt x="609600" y="247293"/>
                  <a:pt x="605076" y="265033"/>
                  <a:pt x="597098" y="280630"/>
                </a:cubicBezTo>
                <a:cubicBezTo>
                  <a:pt x="649486" y="304800"/>
                  <a:pt x="685800" y="357664"/>
                  <a:pt x="685800" y="419100"/>
                </a:cubicBezTo>
                <a:cubicBezTo>
                  <a:pt x="685800" y="503277"/>
                  <a:pt x="617577" y="571500"/>
                  <a:pt x="533400" y="571500"/>
                </a:cubicBezTo>
                <a:lnTo>
                  <a:pt x="171450" y="571500"/>
                </a:lnTo>
                <a:close/>
                <a:moveTo>
                  <a:pt x="363141" y="227409"/>
                </a:moveTo>
                <a:cubicBezTo>
                  <a:pt x="351949" y="216218"/>
                  <a:pt x="333851" y="216218"/>
                  <a:pt x="322778" y="227409"/>
                </a:cubicBezTo>
                <a:lnTo>
                  <a:pt x="237053" y="313134"/>
                </a:lnTo>
                <a:cubicBezTo>
                  <a:pt x="225862" y="324326"/>
                  <a:pt x="225862" y="342424"/>
                  <a:pt x="237053" y="353497"/>
                </a:cubicBezTo>
                <a:cubicBezTo>
                  <a:pt x="248245" y="364569"/>
                  <a:pt x="266343" y="364688"/>
                  <a:pt x="277416" y="353497"/>
                </a:cubicBezTo>
                <a:lnTo>
                  <a:pt x="314325" y="316587"/>
                </a:lnTo>
                <a:lnTo>
                  <a:pt x="314325" y="438150"/>
                </a:lnTo>
                <a:cubicBezTo>
                  <a:pt x="314325" y="453985"/>
                  <a:pt x="327065" y="466725"/>
                  <a:pt x="342900" y="466725"/>
                </a:cubicBezTo>
                <a:cubicBezTo>
                  <a:pt x="358735" y="466725"/>
                  <a:pt x="371475" y="453985"/>
                  <a:pt x="371475" y="438150"/>
                </a:cubicBezTo>
                <a:lnTo>
                  <a:pt x="371475" y="316587"/>
                </a:lnTo>
                <a:lnTo>
                  <a:pt x="408384" y="353497"/>
                </a:lnTo>
                <a:cubicBezTo>
                  <a:pt x="419576" y="364688"/>
                  <a:pt x="437674" y="364688"/>
                  <a:pt x="448747" y="353497"/>
                </a:cubicBezTo>
                <a:cubicBezTo>
                  <a:pt x="459819" y="342305"/>
                  <a:pt x="459938" y="324207"/>
                  <a:pt x="448747" y="313134"/>
                </a:cubicBezTo>
                <a:lnTo>
                  <a:pt x="363022" y="227409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35560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000" y="39116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PDF / DOCX / TXT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48000" y="3365500"/>
            <a:ext cx="635000" cy="0"/>
          </a:xfrm>
          <a:prstGeom prst="straightConnector1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810000" y="2540000"/>
            <a:ext cx="2159000" cy="17780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6600" y="2794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13611" y="-32147"/>
                </a:moveTo>
                <a:lnTo>
                  <a:pt x="331232" y="11668"/>
                </a:lnTo>
                <a:lnTo>
                  <a:pt x="375047" y="29289"/>
                </a:lnTo>
                <a:cubicBezTo>
                  <a:pt x="378619" y="30718"/>
                  <a:pt x="381000" y="34290"/>
                  <a:pt x="381000" y="38100"/>
                </a:cubicBezTo>
                <a:cubicBezTo>
                  <a:pt x="381000" y="41910"/>
                  <a:pt x="378619" y="45482"/>
                  <a:pt x="375047" y="46911"/>
                </a:cubicBezTo>
                <a:lnTo>
                  <a:pt x="331232" y="64532"/>
                </a:lnTo>
                <a:lnTo>
                  <a:pt x="313611" y="108347"/>
                </a:lnTo>
                <a:cubicBezTo>
                  <a:pt x="312182" y="111919"/>
                  <a:pt x="308610" y="114300"/>
                  <a:pt x="304800" y="114300"/>
                </a:cubicBezTo>
                <a:cubicBezTo>
                  <a:pt x="300990" y="114300"/>
                  <a:pt x="297418" y="111919"/>
                  <a:pt x="295989" y="108347"/>
                </a:cubicBezTo>
                <a:lnTo>
                  <a:pt x="278368" y="64532"/>
                </a:lnTo>
                <a:lnTo>
                  <a:pt x="234553" y="46911"/>
                </a:lnTo>
                <a:cubicBezTo>
                  <a:pt x="230981" y="45482"/>
                  <a:pt x="228600" y="41910"/>
                  <a:pt x="228600" y="38100"/>
                </a:cubicBezTo>
                <a:cubicBezTo>
                  <a:pt x="228600" y="34290"/>
                  <a:pt x="230981" y="30718"/>
                  <a:pt x="234553" y="29289"/>
                </a:cubicBezTo>
                <a:lnTo>
                  <a:pt x="278368" y="11668"/>
                </a:lnTo>
                <a:lnTo>
                  <a:pt x="295989" y="-32147"/>
                </a:lnTo>
                <a:cubicBezTo>
                  <a:pt x="297418" y="-35719"/>
                  <a:pt x="300990" y="-38100"/>
                  <a:pt x="304800" y="-38100"/>
                </a:cubicBezTo>
                <a:cubicBezTo>
                  <a:pt x="308610" y="-38100"/>
                  <a:pt x="312182" y="-35719"/>
                  <a:pt x="313611" y="-32147"/>
                </a:cubicBezTo>
                <a:close/>
                <a:moveTo>
                  <a:pt x="131802" y="49649"/>
                </a:moveTo>
                <a:lnTo>
                  <a:pt x="157401" y="109299"/>
                </a:lnTo>
                <a:lnTo>
                  <a:pt x="217051" y="134898"/>
                </a:lnTo>
                <a:cubicBezTo>
                  <a:pt x="224076" y="137874"/>
                  <a:pt x="228600" y="144780"/>
                  <a:pt x="228600" y="152400"/>
                </a:cubicBezTo>
                <a:cubicBezTo>
                  <a:pt x="228600" y="160020"/>
                  <a:pt x="224076" y="166926"/>
                  <a:pt x="217051" y="169902"/>
                </a:cubicBezTo>
                <a:lnTo>
                  <a:pt x="157401" y="195501"/>
                </a:lnTo>
                <a:lnTo>
                  <a:pt x="131802" y="255151"/>
                </a:lnTo>
                <a:cubicBezTo>
                  <a:pt x="128826" y="262176"/>
                  <a:pt x="121920" y="266700"/>
                  <a:pt x="114300" y="266700"/>
                </a:cubicBezTo>
                <a:cubicBezTo>
                  <a:pt x="106680" y="266700"/>
                  <a:pt x="99774" y="262176"/>
                  <a:pt x="96798" y="255151"/>
                </a:cubicBezTo>
                <a:lnTo>
                  <a:pt x="71199" y="195501"/>
                </a:lnTo>
                <a:lnTo>
                  <a:pt x="11549" y="169902"/>
                </a:lnTo>
                <a:cubicBezTo>
                  <a:pt x="4524" y="166926"/>
                  <a:pt x="0" y="160020"/>
                  <a:pt x="0" y="152400"/>
                </a:cubicBezTo>
                <a:cubicBezTo>
                  <a:pt x="0" y="144780"/>
                  <a:pt x="4524" y="137874"/>
                  <a:pt x="11549" y="134898"/>
                </a:cubicBezTo>
                <a:lnTo>
                  <a:pt x="71199" y="109299"/>
                </a:lnTo>
                <a:lnTo>
                  <a:pt x="96798" y="49649"/>
                </a:lnTo>
                <a:cubicBezTo>
                  <a:pt x="99774" y="42624"/>
                  <a:pt x="106680" y="38100"/>
                  <a:pt x="114300" y="38100"/>
                </a:cubicBezTo>
                <a:cubicBezTo>
                  <a:pt x="121920" y="38100"/>
                  <a:pt x="128826" y="42624"/>
                  <a:pt x="131802" y="49649"/>
                </a:cubicBezTo>
                <a:close/>
                <a:moveTo>
                  <a:pt x="552450" y="361950"/>
                </a:moveTo>
                <a:cubicBezTo>
                  <a:pt x="560070" y="361950"/>
                  <a:pt x="566976" y="366474"/>
                  <a:pt x="569952" y="373499"/>
                </a:cubicBezTo>
                <a:lnTo>
                  <a:pt x="595551" y="433149"/>
                </a:lnTo>
                <a:lnTo>
                  <a:pt x="655201" y="458748"/>
                </a:lnTo>
                <a:cubicBezTo>
                  <a:pt x="662226" y="461724"/>
                  <a:pt x="666750" y="468630"/>
                  <a:pt x="666750" y="476250"/>
                </a:cubicBezTo>
                <a:cubicBezTo>
                  <a:pt x="666750" y="483870"/>
                  <a:pt x="662226" y="490776"/>
                  <a:pt x="655201" y="493752"/>
                </a:cubicBezTo>
                <a:lnTo>
                  <a:pt x="595551" y="519351"/>
                </a:lnTo>
                <a:lnTo>
                  <a:pt x="569952" y="579001"/>
                </a:lnTo>
                <a:cubicBezTo>
                  <a:pt x="566976" y="586026"/>
                  <a:pt x="560070" y="590550"/>
                  <a:pt x="552450" y="590550"/>
                </a:cubicBezTo>
                <a:cubicBezTo>
                  <a:pt x="544830" y="590550"/>
                  <a:pt x="537924" y="586026"/>
                  <a:pt x="534948" y="579001"/>
                </a:cubicBezTo>
                <a:lnTo>
                  <a:pt x="509349" y="519351"/>
                </a:lnTo>
                <a:lnTo>
                  <a:pt x="449699" y="493752"/>
                </a:lnTo>
                <a:cubicBezTo>
                  <a:pt x="442674" y="490776"/>
                  <a:pt x="438150" y="483870"/>
                  <a:pt x="438150" y="476250"/>
                </a:cubicBezTo>
                <a:cubicBezTo>
                  <a:pt x="438150" y="468630"/>
                  <a:pt x="442674" y="461724"/>
                  <a:pt x="449699" y="458748"/>
                </a:cubicBezTo>
                <a:lnTo>
                  <a:pt x="509349" y="433149"/>
                </a:lnTo>
                <a:lnTo>
                  <a:pt x="534948" y="373499"/>
                </a:lnTo>
                <a:cubicBezTo>
                  <a:pt x="537924" y="366474"/>
                  <a:pt x="544830" y="361950"/>
                  <a:pt x="552450" y="361950"/>
                </a:cubicBezTo>
                <a:close/>
                <a:moveTo>
                  <a:pt x="547688" y="0"/>
                </a:moveTo>
                <a:cubicBezTo>
                  <a:pt x="560784" y="0"/>
                  <a:pt x="573405" y="5239"/>
                  <a:pt x="582811" y="14526"/>
                </a:cubicBezTo>
                <a:lnTo>
                  <a:pt x="633174" y="64889"/>
                </a:lnTo>
                <a:cubicBezTo>
                  <a:pt x="642461" y="74295"/>
                  <a:pt x="647700" y="86916"/>
                  <a:pt x="647700" y="100013"/>
                </a:cubicBezTo>
                <a:cubicBezTo>
                  <a:pt x="647700" y="113109"/>
                  <a:pt x="642461" y="125730"/>
                  <a:pt x="633174" y="135136"/>
                </a:cubicBezTo>
                <a:lnTo>
                  <a:pt x="528161" y="240149"/>
                </a:lnTo>
                <a:lnTo>
                  <a:pt x="407551" y="119539"/>
                </a:lnTo>
                <a:lnTo>
                  <a:pt x="512564" y="14526"/>
                </a:lnTo>
                <a:cubicBezTo>
                  <a:pt x="521970" y="5239"/>
                  <a:pt x="534591" y="0"/>
                  <a:pt x="547688" y="0"/>
                </a:cubicBezTo>
                <a:close/>
                <a:moveTo>
                  <a:pt x="52626" y="474464"/>
                </a:moveTo>
                <a:lnTo>
                  <a:pt x="367189" y="159901"/>
                </a:lnTo>
                <a:lnTo>
                  <a:pt x="487799" y="280511"/>
                </a:lnTo>
                <a:lnTo>
                  <a:pt x="173236" y="595074"/>
                </a:lnTo>
                <a:cubicBezTo>
                  <a:pt x="163830" y="604361"/>
                  <a:pt x="151209" y="609600"/>
                  <a:pt x="138113" y="609600"/>
                </a:cubicBezTo>
                <a:cubicBezTo>
                  <a:pt x="125016" y="609600"/>
                  <a:pt x="112395" y="604361"/>
                  <a:pt x="102989" y="595074"/>
                </a:cubicBezTo>
                <a:lnTo>
                  <a:pt x="52626" y="544711"/>
                </a:lnTo>
                <a:cubicBezTo>
                  <a:pt x="43339" y="535305"/>
                  <a:pt x="38100" y="522684"/>
                  <a:pt x="38100" y="509588"/>
                </a:cubicBezTo>
                <a:cubicBezTo>
                  <a:pt x="38100" y="496491"/>
                  <a:pt x="43339" y="483870"/>
                  <a:pt x="52626" y="474464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3937000" y="35560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7000" y="39116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Document Parsing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0" y="3365500"/>
            <a:ext cx="635000" cy="0"/>
          </a:xfrm>
          <a:prstGeom prst="straightConnector1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6858000" y="2540000"/>
            <a:ext cx="2159000" cy="17780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08900" y="27940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76200" y="0"/>
                </a:moveTo>
                <a:cubicBezTo>
                  <a:pt x="34171" y="0"/>
                  <a:pt x="0" y="34171"/>
                  <a:pt x="0" y="76200"/>
                </a:cubicBezTo>
                <a:lnTo>
                  <a:pt x="0" y="533400"/>
                </a:lnTo>
                <a:cubicBezTo>
                  <a:pt x="0" y="575429"/>
                  <a:pt x="34171" y="609600"/>
                  <a:pt x="76200" y="609600"/>
                </a:cubicBezTo>
                <a:lnTo>
                  <a:pt x="381000" y="609600"/>
                </a:lnTo>
                <a:cubicBezTo>
                  <a:pt x="423029" y="609600"/>
                  <a:pt x="457200" y="575429"/>
                  <a:pt x="457200" y="533400"/>
                </a:cubicBezTo>
                <a:lnTo>
                  <a:pt x="457200" y="76200"/>
                </a:lnTo>
                <a:cubicBezTo>
                  <a:pt x="457200" y="34171"/>
                  <a:pt x="423029" y="0"/>
                  <a:pt x="381000" y="0"/>
                </a:cubicBezTo>
                <a:lnTo>
                  <a:pt x="76200" y="0"/>
                </a:lnTo>
                <a:close/>
                <a:moveTo>
                  <a:pt x="114300" y="76200"/>
                </a:moveTo>
                <a:lnTo>
                  <a:pt x="342900" y="76200"/>
                </a:lnTo>
                <a:cubicBezTo>
                  <a:pt x="363974" y="76200"/>
                  <a:pt x="381000" y="93226"/>
                  <a:pt x="381000" y="114300"/>
                </a:cubicBezTo>
                <a:lnTo>
                  <a:pt x="381000" y="152400"/>
                </a:lnTo>
                <a:cubicBezTo>
                  <a:pt x="381000" y="173474"/>
                  <a:pt x="363974" y="190500"/>
                  <a:pt x="342900" y="190500"/>
                </a:cubicBezTo>
                <a:lnTo>
                  <a:pt x="114300" y="190500"/>
                </a:lnTo>
                <a:cubicBezTo>
                  <a:pt x="93226" y="190500"/>
                  <a:pt x="76200" y="173474"/>
                  <a:pt x="76200" y="152400"/>
                </a:cubicBezTo>
                <a:lnTo>
                  <a:pt x="76200" y="114300"/>
                </a:lnTo>
                <a:cubicBezTo>
                  <a:pt x="76200" y="93226"/>
                  <a:pt x="93226" y="76200"/>
                  <a:pt x="114300" y="76200"/>
                </a:cubicBezTo>
                <a:close/>
                <a:moveTo>
                  <a:pt x="133350" y="276225"/>
                </a:moveTo>
                <a:cubicBezTo>
                  <a:pt x="133350" y="291996"/>
                  <a:pt x="120546" y="304800"/>
                  <a:pt x="104775" y="304800"/>
                </a:cubicBezTo>
                <a:cubicBezTo>
                  <a:pt x="89004" y="304800"/>
                  <a:pt x="76200" y="291996"/>
                  <a:pt x="76200" y="276225"/>
                </a:cubicBezTo>
                <a:cubicBezTo>
                  <a:pt x="76200" y="260454"/>
                  <a:pt x="89004" y="247650"/>
                  <a:pt x="104775" y="247650"/>
                </a:cubicBezTo>
                <a:cubicBezTo>
                  <a:pt x="120546" y="247650"/>
                  <a:pt x="133350" y="260454"/>
                  <a:pt x="133350" y="276225"/>
                </a:cubicBezTo>
                <a:close/>
                <a:moveTo>
                  <a:pt x="228600" y="304800"/>
                </a:moveTo>
                <a:cubicBezTo>
                  <a:pt x="212829" y="304800"/>
                  <a:pt x="200025" y="291996"/>
                  <a:pt x="200025" y="276225"/>
                </a:cubicBezTo>
                <a:cubicBezTo>
                  <a:pt x="200025" y="260454"/>
                  <a:pt x="212829" y="247650"/>
                  <a:pt x="228600" y="247650"/>
                </a:cubicBezTo>
                <a:cubicBezTo>
                  <a:pt x="244371" y="247650"/>
                  <a:pt x="257175" y="260454"/>
                  <a:pt x="257175" y="276225"/>
                </a:cubicBezTo>
                <a:cubicBezTo>
                  <a:pt x="257175" y="291996"/>
                  <a:pt x="244371" y="304800"/>
                  <a:pt x="228600" y="304800"/>
                </a:cubicBezTo>
                <a:close/>
                <a:moveTo>
                  <a:pt x="381000" y="276225"/>
                </a:moveTo>
                <a:cubicBezTo>
                  <a:pt x="381000" y="291996"/>
                  <a:pt x="368196" y="304800"/>
                  <a:pt x="352425" y="304800"/>
                </a:cubicBezTo>
                <a:cubicBezTo>
                  <a:pt x="336654" y="304800"/>
                  <a:pt x="323850" y="291996"/>
                  <a:pt x="323850" y="276225"/>
                </a:cubicBezTo>
                <a:cubicBezTo>
                  <a:pt x="323850" y="260454"/>
                  <a:pt x="336654" y="247650"/>
                  <a:pt x="352425" y="247650"/>
                </a:cubicBezTo>
                <a:cubicBezTo>
                  <a:pt x="368196" y="247650"/>
                  <a:pt x="381000" y="260454"/>
                  <a:pt x="381000" y="276225"/>
                </a:cubicBezTo>
                <a:close/>
                <a:moveTo>
                  <a:pt x="104775" y="419100"/>
                </a:moveTo>
                <a:cubicBezTo>
                  <a:pt x="89004" y="419100"/>
                  <a:pt x="76200" y="406296"/>
                  <a:pt x="76200" y="390525"/>
                </a:cubicBezTo>
                <a:cubicBezTo>
                  <a:pt x="76200" y="374754"/>
                  <a:pt x="89004" y="361950"/>
                  <a:pt x="104775" y="361950"/>
                </a:cubicBezTo>
                <a:cubicBezTo>
                  <a:pt x="120546" y="361950"/>
                  <a:pt x="133350" y="374754"/>
                  <a:pt x="133350" y="390525"/>
                </a:cubicBezTo>
                <a:cubicBezTo>
                  <a:pt x="133350" y="406296"/>
                  <a:pt x="120546" y="419100"/>
                  <a:pt x="104775" y="419100"/>
                </a:cubicBezTo>
                <a:close/>
                <a:moveTo>
                  <a:pt x="257175" y="390525"/>
                </a:moveTo>
                <a:cubicBezTo>
                  <a:pt x="257175" y="406296"/>
                  <a:pt x="244371" y="419100"/>
                  <a:pt x="228600" y="419100"/>
                </a:cubicBezTo>
                <a:cubicBezTo>
                  <a:pt x="212829" y="419100"/>
                  <a:pt x="200025" y="406296"/>
                  <a:pt x="200025" y="390525"/>
                </a:cubicBezTo>
                <a:cubicBezTo>
                  <a:pt x="200025" y="374754"/>
                  <a:pt x="212829" y="361950"/>
                  <a:pt x="228600" y="361950"/>
                </a:cubicBezTo>
                <a:cubicBezTo>
                  <a:pt x="244371" y="361950"/>
                  <a:pt x="257175" y="374754"/>
                  <a:pt x="257175" y="390525"/>
                </a:cubicBezTo>
                <a:close/>
                <a:moveTo>
                  <a:pt x="352425" y="419100"/>
                </a:moveTo>
                <a:cubicBezTo>
                  <a:pt x="336654" y="419100"/>
                  <a:pt x="323850" y="406296"/>
                  <a:pt x="323850" y="390525"/>
                </a:cubicBezTo>
                <a:cubicBezTo>
                  <a:pt x="323850" y="374754"/>
                  <a:pt x="336654" y="361950"/>
                  <a:pt x="352425" y="361950"/>
                </a:cubicBezTo>
                <a:cubicBezTo>
                  <a:pt x="368196" y="361950"/>
                  <a:pt x="381000" y="374754"/>
                  <a:pt x="381000" y="390525"/>
                </a:cubicBezTo>
                <a:cubicBezTo>
                  <a:pt x="381000" y="406296"/>
                  <a:pt x="368196" y="419100"/>
                  <a:pt x="352425" y="419100"/>
                </a:cubicBezTo>
                <a:close/>
                <a:moveTo>
                  <a:pt x="76200" y="504825"/>
                </a:moveTo>
                <a:cubicBezTo>
                  <a:pt x="76200" y="488990"/>
                  <a:pt x="88940" y="476250"/>
                  <a:pt x="104775" y="476250"/>
                </a:cubicBezTo>
                <a:lnTo>
                  <a:pt x="238125" y="476250"/>
                </a:lnTo>
                <a:cubicBezTo>
                  <a:pt x="253960" y="476250"/>
                  <a:pt x="266700" y="488990"/>
                  <a:pt x="266700" y="504825"/>
                </a:cubicBezTo>
                <a:cubicBezTo>
                  <a:pt x="266700" y="520660"/>
                  <a:pt x="253960" y="533400"/>
                  <a:pt x="238125" y="533400"/>
                </a:cubicBezTo>
                <a:lnTo>
                  <a:pt x="104775" y="533400"/>
                </a:lnTo>
                <a:cubicBezTo>
                  <a:pt x="88940" y="533400"/>
                  <a:pt x="76200" y="520660"/>
                  <a:pt x="76200" y="504825"/>
                </a:cubicBezTo>
                <a:close/>
                <a:moveTo>
                  <a:pt x="352425" y="476250"/>
                </a:moveTo>
                <a:cubicBezTo>
                  <a:pt x="368260" y="476250"/>
                  <a:pt x="381000" y="488990"/>
                  <a:pt x="381000" y="504825"/>
                </a:cubicBezTo>
                <a:cubicBezTo>
                  <a:pt x="381000" y="520660"/>
                  <a:pt x="368260" y="533400"/>
                  <a:pt x="352425" y="533400"/>
                </a:cubicBezTo>
                <a:cubicBezTo>
                  <a:pt x="336590" y="533400"/>
                  <a:pt x="323850" y="520660"/>
                  <a:pt x="323850" y="504825"/>
                </a:cubicBezTo>
                <a:cubicBezTo>
                  <a:pt x="323850" y="488990"/>
                  <a:pt x="336590" y="476250"/>
                  <a:pt x="352425" y="47625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6985000" y="35560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85000" y="39116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Scoring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0" y="3365500"/>
            <a:ext cx="635000" cy="0"/>
          </a:xfrm>
          <a:prstGeom prst="straightConnector1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9906000" y="2540000"/>
            <a:ext cx="2159000" cy="17780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4500" y="2794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57200" y="38100"/>
                </a:moveTo>
                <a:lnTo>
                  <a:pt x="609600" y="38100"/>
                </a:lnTo>
                <a:cubicBezTo>
                  <a:pt x="630674" y="38100"/>
                  <a:pt x="647700" y="55126"/>
                  <a:pt x="647700" y="76200"/>
                </a:cubicBezTo>
                <a:cubicBezTo>
                  <a:pt x="647700" y="97274"/>
                  <a:pt x="630674" y="114300"/>
                  <a:pt x="609600" y="114300"/>
                </a:cubicBezTo>
                <a:lnTo>
                  <a:pt x="474345" y="114300"/>
                </a:lnTo>
                <a:cubicBezTo>
                  <a:pt x="468154" y="145018"/>
                  <a:pt x="447080" y="170378"/>
                  <a:pt x="419100" y="182523"/>
                </a:cubicBezTo>
                <a:lnTo>
                  <a:pt x="419100" y="533400"/>
                </a:lnTo>
                <a:lnTo>
                  <a:pt x="609600" y="533400"/>
                </a:lnTo>
                <a:cubicBezTo>
                  <a:pt x="630674" y="533400"/>
                  <a:pt x="647700" y="550426"/>
                  <a:pt x="647700" y="571500"/>
                </a:cubicBezTo>
                <a:cubicBezTo>
                  <a:pt x="647700" y="592574"/>
                  <a:pt x="630674" y="609600"/>
                  <a:pt x="609600" y="609600"/>
                </a:cubicBezTo>
                <a:lnTo>
                  <a:pt x="152400" y="609600"/>
                </a:lnTo>
                <a:cubicBezTo>
                  <a:pt x="131326" y="609600"/>
                  <a:pt x="114300" y="592574"/>
                  <a:pt x="114300" y="571500"/>
                </a:cubicBezTo>
                <a:cubicBezTo>
                  <a:pt x="114300" y="550426"/>
                  <a:pt x="131326" y="533400"/>
                  <a:pt x="152400" y="533400"/>
                </a:cubicBezTo>
                <a:lnTo>
                  <a:pt x="342900" y="533400"/>
                </a:lnTo>
                <a:lnTo>
                  <a:pt x="342900" y="182523"/>
                </a:lnTo>
                <a:cubicBezTo>
                  <a:pt x="314920" y="170259"/>
                  <a:pt x="293846" y="144899"/>
                  <a:pt x="287655" y="114300"/>
                </a:cubicBezTo>
                <a:lnTo>
                  <a:pt x="152400" y="114300"/>
                </a:lnTo>
                <a:cubicBezTo>
                  <a:pt x="131326" y="114300"/>
                  <a:pt x="114300" y="97274"/>
                  <a:pt x="114300" y="76200"/>
                </a:cubicBezTo>
                <a:cubicBezTo>
                  <a:pt x="114300" y="55126"/>
                  <a:pt x="131326" y="38100"/>
                  <a:pt x="152400" y="38100"/>
                </a:cubicBezTo>
                <a:lnTo>
                  <a:pt x="304800" y="38100"/>
                </a:lnTo>
                <a:cubicBezTo>
                  <a:pt x="322183" y="15002"/>
                  <a:pt x="349806" y="0"/>
                  <a:pt x="381000" y="0"/>
                </a:cubicBezTo>
                <a:cubicBezTo>
                  <a:pt x="412194" y="0"/>
                  <a:pt x="439817" y="15002"/>
                  <a:pt x="457200" y="38100"/>
                </a:cubicBezTo>
                <a:close/>
                <a:moveTo>
                  <a:pt x="523399" y="381000"/>
                </a:moveTo>
                <a:lnTo>
                  <a:pt x="695801" y="381000"/>
                </a:lnTo>
                <a:lnTo>
                  <a:pt x="609600" y="233124"/>
                </a:lnTo>
                <a:lnTo>
                  <a:pt x="523399" y="381000"/>
                </a:lnTo>
                <a:close/>
                <a:moveTo>
                  <a:pt x="609600" y="495300"/>
                </a:moveTo>
                <a:cubicBezTo>
                  <a:pt x="534710" y="495300"/>
                  <a:pt x="472440" y="454819"/>
                  <a:pt x="459581" y="401360"/>
                </a:cubicBezTo>
                <a:cubicBezTo>
                  <a:pt x="456486" y="388263"/>
                  <a:pt x="460772" y="374809"/>
                  <a:pt x="467558" y="363141"/>
                </a:cubicBezTo>
                <a:lnTo>
                  <a:pt x="580906" y="168831"/>
                </a:lnTo>
                <a:cubicBezTo>
                  <a:pt x="586859" y="158591"/>
                  <a:pt x="597813" y="152400"/>
                  <a:pt x="609600" y="152400"/>
                </a:cubicBezTo>
                <a:cubicBezTo>
                  <a:pt x="621387" y="152400"/>
                  <a:pt x="632341" y="158710"/>
                  <a:pt x="638294" y="168831"/>
                </a:cubicBezTo>
                <a:lnTo>
                  <a:pt x="751642" y="363141"/>
                </a:lnTo>
                <a:cubicBezTo>
                  <a:pt x="758428" y="374809"/>
                  <a:pt x="762714" y="388263"/>
                  <a:pt x="759619" y="401360"/>
                </a:cubicBezTo>
                <a:cubicBezTo>
                  <a:pt x="746760" y="454700"/>
                  <a:pt x="684490" y="495300"/>
                  <a:pt x="609600" y="495300"/>
                </a:cubicBezTo>
                <a:close/>
                <a:moveTo>
                  <a:pt x="150971" y="233124"/>
                </a:moveTo>
                <a:lnTo>
                  <a:pt x="64770" y="381000"/>
                </a:lnTo>
                <a:lnTo>
                  <a:pt x="237292" y="381000"/>
                </a:lnTo>
                <a:lnTo>
                  <a:pt x="150971" y="233124"/>
                </a:lnTo>
                <a:close/>
                <a:moveTo>
                  <a:pt x="1072" y="401360"/>
                </a:moveTo>
                <a:cubicBezTo>
                  <a:pt x="-2024" y="388263"/>
                  <a:pt x="2262" y="374809"/>
                  <a:pt x="9049" y="363141"/>
                </a:cubicBezTo>
                <a:lnTo>
                  <a:pt x="122396" y="168831"/>
                </a:lnTo>
                <a:cubicBezTo>
                  <a:pt x="128349" y="158591"/>
                  <a:pt x="139303" y="152400"/>
                  <a:pt x="151090" y="152400"/>
                </a:cubicBezTo>
                <a:cubicBezTo>
                  <a:pt x="162878" y="152400"/>
                  <a:pt x="173831" y="158710"/>
                  <a:pt x="179784" y="168831"/>
                </a:cubicBezTo>
                <a:lnTo>
                  <a:pt x="293132" y="363141"/>
                </a:lnTo>
                <a:cubicBezTo>
                  <a:pt x="299918" y="374809"/>
                  <a:pt x="304205" y="388263"/>
                  <a:pt x="301109" y="401360"/>
                </a:cubicBezTo>
                <a:cubicBezTo>
                  <a:pt x="288250" y="454700"/>
                  <a:pt x="225981" y="495300"/>
                  <a:pt x="151090" y="495300"/>
                </a:cubicBezTo>
                <a:cubicBezTo>
                  <a:pt x="76200" y="495300"/>
                  <a:pt x="13930" y="454819"/>
                  <a:pt x="1072" y="40136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10033000" y="35560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33000" y="39116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Multi-Bidder Ranking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192000" y="3365500"/>
            <a:ext cx="635000" cy="0"/>
          </a:xfrm>
          <a:prstGeom prst="straightConnector1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2954000" y="2540000"/>
            <a:ext cx="2159000" cy="17780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04900" y="27940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297537" y="79534"/>
                </a:moveTo>
                <a:cubicBezTo>
                  <a:pt x="309920" y="62508"/>
                  <a:pt x="306110" y="38695"/>
                  <a:pt x="289084" y="26313"/>
                </a:cubicBezTo>
                <a:cubicBezTo>
                  <a:pt x="272058" y="13930"/>
                  <a:pt x="248245" y="17740"/>
                  <a:pt x="235863" y="34766"/>
                </a:cubicBezTo>
                <a:lnTo>
                  <a:pt x="109657" y="208240"/>
                </a:lnTo>
                <a:lnTo>
                  <a:pt x="65008" y="163592"/>
                </a:lnTo>
                <a:cubicBezTo>
                  <a:pt x="50125" y="148709"/>
                  <a:pt x="25956" y="148709"/>
                  <a:pt x="11073" y="163592"/>
                </a:cubicBezTo>
                <a:cubicBezTo>
                  <a:pt x="-3810" y="178475"/>
                  <a:pt x="-3810" y="202644"/>
                  <a:pt x="11073" y="217527"/>
                </a:cubicBezTo>
                <a:lnTo>
                  <a:pt x="87273" y="293727"/>
                </a:lnTo>
                <a:cubicBezTo>
                  <a:pt x="95131" y="301585"/>
                  <a:pt x="106085" y="305633"/>
                  <a:pt x="117158" y="304800"/>
                </a:cubicBezTo>
                <a:cubicBezTo>
                  <a:pt x="128230" y="303967"/>
                  <a:pt x="138470" y="298252"/>
                  <a:pt x="145018" y="289203"/>
                </a:cubicBezTo>
                <a:lnTo>
                  <a:pt x="297418" y="79653"/>
                </a:lnTo>
                <a:close/>
                <a:moveTo>
                  <a:pt x="449937" y="241459"/>
                </a:moveTo>
                <a:cubicBezTo>
                  <a:pt x="462320" y="224433"/>
                  <a:pt x="458510" y="200620"/>
                  <a:pt x="441484" y="188238"/>
                </a:cubicBezTo>
                <a:cubicBezTo>
                  <a:pt x="424458" y="175855"/>
                  <a:pt x="400645" y="179665"/>
                  <a:pt x="388263" y="196691"/>
                </a:cubicBezTo>
                <a:lnTo>
                  <a:pt x="185857" y="474940"/>
                </a:lnTo>
                <a:lnTo>
                  <a:pt x="103108" y="392192"/>
                </a:lnTo>
                <a:cubicBezTo>
                  <a:pt x="88225" y="377309"/>
                  <a:pt x="64056" y="377309"/>
                  <a:pt x="49173" y="392192"/>
                </a:cubicBezTo>
                <a:cubicBezTo>
                  <a:pt x="34290" y="407075"/>
                  <a:pt x="34290" y="431244"/>
                  <a:pt x="49173" y="446127"/>
                </a:cubicBezTo>
                <a:lnTo>
                  <a:pt x="163473" y="560427"/>
                </a:lnTo>
                <a:cubicBezTo>
                  <a:pt x="171331" y="568285"/>
                  <a:pt x="182285" y="572333"/>
                  <a:pt x="193357" y="571500"/>
                </a:cubicBezTo>
                <a:cubicBezTo>
                  <a:pt x="204430" y="570667"/>
                  <a:pt x="214670" y="564952"/>
                  <a:pt x="221218" y="555903"/>
                </a:cubicBezTo>
                <a:lnTo>
                  <a:pt x="449818" y="241578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13081000" y="35560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081000" y="39116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AI-Assisted Decision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3906500" y="4381500"/>
            <a:ext cx="0" cy="635000"/>
          </a:xfrm>
          <a:prstGeom prst="straightConnector1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6286500" y="5207000"/>
            <a:ext cx="3683000" cy="1524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25400">
            <a:solidFill>
              <a:srgbClr val="38BDF8"/>
            </a:solidFill>
            <a:prstDash val="solid"/>
          </a:ln>
          <a:effectLst>
            <a:outerShdw blurRad="381000" dist="50800" dir="2700000" algn="bl" rotWithShape="0">
              <a:srgbClr val="38BDF8">
                <a:alpha val="12549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96200" y="539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3" name="Text 31"/>
          <p:cNvSpPr/>
          <p:nvPr/>
        </p:nvSpPr>
        <p:spPr>
          <a:xfrm>
            <a:off x="6540500" y="6032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LOGGING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40500" y="63881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 &amp; Compliance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921000" y="4318000"/>
            <a:ext cx="0" cy="114300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ysDot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6286500" y="4318000"/>
            <a:ext cx="0" cy="88900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ysDot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969500" y="4318000"/>
            <a:ext cx="0" cy="88900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ysDot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13906500" y="4318000"/>
            <a:ext cx="0" cy="889000"/>
          </a:xfrm>
          <a:prstGeom prst="straightConnector1">
            <a:avLst/>
          </a:prstGeom>
          <a:noFill/>
          <a:ln w="12700">
            <a:solidFill>
              <a:srgbClr val="1E293B"/>
            </a:solidFill>
            <a:prstDash val="sysDot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762000" y="7112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Quorix does </a:t>
            </a:r>
            <a:r>
              <a:rPr lang="en-US" sz="16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</a:t>
            </a: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replace procurement officers. It </a:t>
            </a:r>
            <a:r>
              <a:rPr lang="en-US" sz="16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AUGMENTS</a:t>
            </a: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procurement intelligence by reducing manual workload, improving transparency, and accelerating decisions.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5113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/ 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0" y="-1270000"/>
            <a:ext cx="10160000" cy="6350000"/>
          </a:xfrm>
          <a:prstGeom prst="ellipse">
            <a:avLst/>
          </a:prstGeom>
          <a:gradFill flip="none" rotWithShape="1">
            <a:gsLst>
              <a:gs pos="0">
                <a:srgbClr val="2563EB">
                  <a:alpha val="7000"/>
                </a:srgbClr>
              </a:gs>
              <a:gs pos="100000">
                <a:srgbClr val="0B102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98500"/>
            <a:ext cx="50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7620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1270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Measurable transformation across every procurement dimension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4572000" cy="2540000"/>
          </a:xfrm>
          <a:prstGeom prst="roundRect">
            <a:avLst>
              <a:gd name="adj" fmla="val 6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2286000"/>
            <a:ext cx="406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64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016000" y="34290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kern="0" spc="2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EVALUATION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8100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45 minutes to under 2 minutes per bidder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2032000"/>
            <a:ext cx="4572000" cy="2540000"/>
          </a:xfrm>
          <a:prstGeom prst="roundRect">
            <a:avLst>
              <a:gd name="adj" fmla="val 6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0" y="2286000"/>
            <a:ext cx="406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64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6096000" y="34290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kern="0" spc="2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WORKLOAD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38100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Eliminates manual document review and spreadsheet entry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2032000"/>
            <a:ext cx="4572000" cy="2540000"/>
          </a:xfrm>
          <a:prstGeom prst="roundRect">
            <a:avLst>
              <a:gd name="adj" fmla="val 6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76000" y="2286000"/>
            <a:ext cx="406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64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11176000" y="34290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kern="0" spc="2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76000" y="38100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decision is explainable, traceable, and defensible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080000"/>
            <a:ext cx="4572000" cy="2794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60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1651000" y="53975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6032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score comes with human-readable reasoning. Procurement officers understand </a:t>
            </a:r>
            <a:r>
              <a:rPr lang="en-US" sz="1500" b="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</a:t>
            </a:r>
            <a:r>
              <a:rPr lang="en-US" sz="15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decision was recommended, not just </a:t>
            </a:r>
            <a:r>
              <a:rPr lang="en-US" sz="1500" b="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</a:t>
            </a:r>
            <a:r>
              <a:rPr lang="en-US" sz="15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decision is.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42000" y="5080000"/>
            <a:ext cx="4572000" cy="2794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60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8781" y="8394"/>
                </a:moveTo>
                <a:cubicBezTo>
                  <a:pt x="237619" y="-2768"/>
                  <a:pt x="219492" y="-2768"/>
                  <a:pt x="208330" y="8394"/>
                </a:cubicBezTo>
                <a:lnTo>
                  <a:pt x="151180" y="65544"/>
                </a:lnTo>
                <a:cubicBezTo>
                  <a:pt x="140018" y="76706"/>
                  <a:pt x="140018" y="94833"/>
                  <a:pt x="151180" y="105995"/>
                </a:cubicBezTo>
                <a:cubicBezTo>
                  <a:pt x="162342" y="117157"/>
                  <a:pt x="180469" y="117157"/>
                  <a:pt x="191631" y="105995"/>
                </a:cubicBezTo>
                <a:lnTo>
                  <a:pt x="200025" y="97601"/>
                </a:lnTo>
                <a:lnTo>
                  <a:pt x="200025" y="200025"/>
                </a:lnTo>
                <a:lnTo>
                  <a:pt x="97601" y="200025"/>
                </a:lnTo>
                <a:lnTo>
                  <a:pt x="105995" y="191631"/>
                </a:lnTo>
                <a:cubicBezTo>
                  <a:pt x="117158" y="180469"/>
                  <a:pt x="117158" y="162342"/>
                  <a:pt x="105995" y="151180"/>
                </a:cubicBezTo>
                <a:cubicBezTo>
                  <a:pt x="94833" y="140018"/>
                  <a:pt x="76706" y="140018"/>
                  <a:pt x="65544" y="151180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65544" y="305931"/>
                </a:lnTo>
                <a:cubicBezTo>
                  <a:pt x="76706" y="317093"/>
                  <a:pt x="94833" y="317093"/>
                  <a:pt x="105995" y="305931"/>
                </a:cubicBezTo>
                <a:cubicBezTo>
                  <a:pt x="117158" y="294769"/>
                  <a:pt x="117158" y="276642"/>
                  <a:pt x="105995" y="265480"/>
                </a:cubicBezTo>
                <a:lnTo>
                  <a:pt x="97601" y="257086"/>
                </a:lnTo>
                <a:lnTo>
                  <a:pt x="200025" y="257086"/>
                </a:lnTo>
                <a:lnTo>
                  <a:pt x="200025" y="359509"/>
                </a:lnTo>
                <a:lnTo>
                  <a:pt x="191631" y="351115"/>
                </a:lnTo>
                <a:cubicBezTo>
                  <a:pt x="180469" y="339953"/>
                  <a:pt x="162342" y="339953"/>
                  <a:pt x="151180" y="351115"/>
                </a:cubicBezTo>
                <a:cubicBezTo>
                  <a:pt x="140018" y="362277"/>
                  <a:pt x="140018" y="380405"/>
                  <a:pt x="151180" y="391567"/>
                </a:cubicBezTo>
                <a:lnTo>
                  <a:pt x="208330" y="448717"/>
                </a:lnTo>
                <a:cubicBezTo>
                  <a:pt x="219492" y="459879"/>
                  <a:pt x="237619" y="459879"/>
                  <a:pt x="248781" y="448717"/>
                </a:cubicBezTo>
                <a:lnTo>
                  <a:pt x="305931" y="391567"/>
                </a:lnTo>
                <a:cubicBezTo>
                  <a:pt x="317093" y="380405"/>
                  <a:pt x="317093" y="362277"/>
                  <a:pt x="305931" y="351115"/>
                </a:cubicBezTo>
                <a:cubicBezTo>
                  <a:pt x="294769" y="339953"/>
                  <a:pt x="276642" y="339953"/>
                  <a:pt x="265480" y="351115"/>
                </a:cubicBezTo>
                <a:lnTo>
                  <a:pt x="257086" y="359509"/>
                </a:lnTo>
                <a:lnTo>
                  <a:pt x="257086" y="257086"/>
                </a:lnTo>
                <a:lnTo>
                  <a:pt x="359509" y="257086"/>
                </a:lnTo>
                <a:lnTo>
                  <a:pt x="351115" y="265480"/>
                </a:lnTo>
                <a:cubicBezTo>
                  <a:pt x="339953" y="276642"/>
                  <a:pt x="339953" y="294769"/>
                  <a:pt x="351115" y="305931"/>
                </a:cubicBezTo>
                <a:cubicBezTo>
                  <a:pt x="362277" y="317093"/>
                  <a:pt x="380405" y="317093"/>
                  <a:pt x="391567" y="305931"/>
                </a:cubicBezTo>
                <a:lnTo>
                  <a:pt x="448717" y="248781"/>
                </a:lnTo>
                <a:cubicBezTo>
                  <a:pt x="459879" y="237619"/>
                  <a:pt x="459879" y="219492"/>
                  <a:pt x="448717" y="208330"/>
                </a:cubicBezTo>
                <a:lnTo>
                  <a:pt x="391567" y="151180"/>
                </a:lnTo>
                <a:cubicBezTo>
                  <a:pt x="380405" y="140018"/>
                  <a:pt x="362277" y="140018"/>
                  <a:pt x="351115" y="151180"/>
                </a:cubicBezTo>
                <a:cubicBezTo>
                  <a:pt x="339953" y="162342"/>
                  <a:pt x="339953" y="180469"/>
                  <a:pt x="351115" y="191631"/>
                </a:cubicBezTo>
                <a:lnTo>
                  <a:pt x="359509" y="200025"/>
                </a:lnTo>
                <a:lnTo>
                  <a:pt x="257086" y="200025"/>
                </a:lnTo>
                <a:lnTo>
                  <a:pt x="257086" y="97601"/>
                </a:lnTo>
                <a:lnTo>
                  <a:pt x="265480" y="105995"/>
                </a:lnTo>
                <a:cubicBezTo>
                  <a:pt x="276642" y="117158"/>
                  <a:pt x="294769" y="117158"/>
                  <a:pt x="305931" y="105995"/>
                </a:cubicBezTo>
                <a:cubicBezTo>
                  <a:pt x="317093" y="94833"/>
                  <a:pt x="317093" y="76706"/>
                  <a:pt x="305931" y="65544"/>
                </a:cubicBezTo>
                <a:lnTo>
                  <a:pt x="248781" y="8394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731000" y="53975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Workflow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96000" y="6032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10 to 1,000+ vendor submissions. Quorix scales without adding headcount. The same AI engine processes any volume with consistent quality.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922000" y="5080000"/>
            <a:ext cx="4572000" cy="2794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1760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2798" y="18038"/>
                </a:moveTo>
                <a:cubicBezTo>
                  <a:pt x="234047" y="13037"/>
                  <a:pt x="223242" y="13037"/>
                  <a:pt x="214402" y="18038"/>
                </a:cubicBezTo>
                <a:lnTo>
                  <a:pt x="14377" y="132338"/>
                </a:lnTo>
                <a:cubicBezTo>
                  <a:pt x="3125" y="138767"/>
                  <a:pt x="-2411" y="151983"/>
                  <a:pt x="893" y="164485"/>
                </a:cubicBezTo>
                <a:cubicBezTo>
                  <a:pt x="4197" y="176986"/>
                  <a:pt x="15627" y="185738"/>
                  <a:pt x="28575" y="185738"/>
                </a:cubicBezTo>
                <a:lnTo>
                  <a:pt x="57150" y="185738"/>
                </a:lnTo>
                <a:lnTo>
                  <a:pt x="57150" y="371475"/>
                </a:lnTo>
                <a:lnTo>
                  <a:pt x="57150" y="371475"/>
                </a:lnTo>
                <a:lnTo>
                  <a:pt x="11430" y="405765"/>
                </a:lnTo>
                <a:cubicBezTo>
                  <a:pt x="4197" y="411123"/>
                  <a:pt x="0" y="419606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428625" y="457200"/>
                </a:lnTo>
                <a:cubicBezTo>
                  <a:pt x="444431" y="457200"/>
                  <a:pt x="457200" y="444431"/>
                  <a:pt x="457200" y="428625"/>
                </a:cubicBezTo>
                <a:cubicBezTo>
                  <a:pt x="457200" y="419606"/>
                  <a:pt x="453003" y="411123"/>
                  <a:pt x="445770" y="405765"/>
                </a:cubicBezTo>
                <a:lnTo>
                  <a:pt x="400050" y="371475"/>
                </a:lnTo>
                <a:lnTo>
                  <a:pt x="400050" y="185738"/>
                </a:lnTo>
                <a:lnTo>
                  <a:pt x="428625" y="185738"/>
                </a:lnTo>
                <a:cubicBezTo>
                  <a:pt x="441573" y="185738"/>
                  <a:pt x="452914" y="176986"/>
                  <a:pt x="456218" y="164485"/>
                </a:cubicBezTo>
                <a:cubicBezTo>
                  <a:pt x="459522" y="151983"/>
                  <a:pt x="453985" y="138767"/>
                  <a:pt x="442734" y="132338"/>
                </a:cubicBezTo>
                <a:lnTo>
                  <a:pt x="242709" y="18038"/>
                </a:lnTo>
                <a:close/>
                <a:moveTo>
                  <a:pt x="357188" y="185738"/>
                </a:moveTo>
                <a:lnTo>
                  <a:pt x="357188" y="371475"/>
                </a:lnTo>
                <a:lnTo>
                  <a:pt x="300038" y="371475"/>
                </a:lnTo>
                <a:lnTo>
                  <a:pt x="300038" y="185738"/>
                </a:lnTo>
                <a:lnTo>
                  <a:pt x="357188" y="185738"/>
                </a:lnTo>
                <a:close/>
                <a:moveTo>
                  <a:pt x="257175" y="185738"/>
                </a:moveTo>
                <a:lnTo>
                  <a:pt x="257175" y="371475"/>
                </a:lnTo>
                <a:lnTo>
                  <a:pt x="200025" y="371475"/>
                </a:lnTo>
                <a:lnTo>
                  <a:pt x="200025" y="185738"/>
                </a:lnTo>
                <a:lnTo>
                  <a:pt x="257175" y="185738"/>
                </a:lnTo>
                <a:close/>
                <a:moveTo>
                  <a:pt x="157163" y="185738"/>
                </a:moveTo>
                <a:lnTo>
                  <a:pt x="157163" y="371475"/>
                </a:lnTo>
                <a:lnTo>
                  <a:pt x="100013" y="371475"/>
                </a:lnTo>
                <a:lnTo>
                  <a:pt x="100013" y="185738"/>
                </a:lnTo>
                <a:lnTo>
                  <a:pt x="157163" y="185738"/>
                </a:lnTo>
                <a:close/>
                <a:moveTo>
                  <a:pt x="228600" y="85725"/>
                </a:moveTo>
                <a:cubicBezTo>
                  <a:pt x="244371" y="85725"/>
                  <a:pt x="257175" y="98529"/>
                  <a:pt x="257175" y="114300"/>
                </a:cubicBezTo>
                <a:cubicBezTo>
                  <a:pt x="257175" y="130071"/>
                  <a:pt x="244371" y="142875"/>
                  <a:pt x="228600" y="142875"/>
                </a:cubicBezTo>
                <a:cubicBezTo>
                  <a:pt x="212829" y="142875"/>
                  <a:pt x="200025" y="130071"/>
                  <a:pt x="200025" y="114300"/>
                </a:cubicBezTo>
                <a:cubicBezTo>
                  <a:pt x="200025" y="98529"/>
                  <a:pt x="212829" y="85725"/>
                  <a:pt x="228600" y="85725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1811000" y="53975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 Impact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76000" y="6032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procurement from a liability into a governance asset. Full audit trails mean regulators and auditors get clear, defensible answers instantly.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113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 / 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0000" y="635000"/>
            <a:ext cx="6350000" cy="7620000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6000"/>
                </a:srgbClr>
              </a:gs>
              <a:gs pos="100000">
                <a:srgbClr val="0B102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98500"/>
            <a:ext cx="50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7620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kern="0" spc="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ROADMAP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1270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vision for next-generation procurement intelligence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70000" y="3556000"/>
            <a:ext cx="13716000" cy="0"/>
          </a:xfrm>
          <a:prstGeom prst="straightConnector1">
            <a:avLst/>
          </a:prstGeom>
          <a:noFill/>
          <a:ln w="25400">
            <a:solidFill>
              <a:srgbClr val="1E293B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841500" y="3429000"/>
            <a:ext cx="254000" cy="2540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0B1020"/>
            </a:solidFill>
            <a:prstDash val="solid"/>
          </a:ln>
          <a:effectLst>
            <a:outerShdw blurRad="127000" dist="50800" dir="2700000" algn="bl" rotWithShape="0">
              <a:srgbClr val="2563EB">
                <a:alpha val="3764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2000" y="2032000"/>
            <a:ext cx="2794000" cy="14224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21336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kern="0" spc="20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9000" y="24384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OCR + LLM Extraction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9000" y="2768600"/>
            <a:ext cx="266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document parsing with LLM-assisted extraction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35500" y="3429000"/>
            <a:ext cx="254000" cy="254000"/>
          </a:xfrm>
          <a:prstGeom prst="ellipse">
            <a:avLst/>
          </a:prstGeom>
          <a:solidFill>
            <a:srgbClr val="38BDF8"/>
          </a:solidFill>
          <a:ln w="38100">
            <a:solidFill>
              <a:srgbClr val="0B1020"/>
            </a:solidFill>
            <a:prstDash val="solid"/>
          </a:ln>
          <a:effectLst>
            <a:outerShdw blurRad="127000" dist="50800" dir="2700000" algn="bl" rotWithShape="0">
              <a:srgbClr val="38BDF8">
                <a:alpha val="3764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56000" y="2032000"/>
            <a:ext cx="2794000" cy="14224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6000" y="21336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kern="0" spc="2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83000" y="24384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Multilingual Support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83000" y="2768600"/>
            <a:ext cx="266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Regional language procurement document processing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29500" y="3429000"/>
            <a:ext cx="254000" cy="254000"/>
          </a:xfrm>
          <a:prstGeom prst="ellipse">
            <a:avLst/>
          </a:prstGeom>
          <a:solidFill>
            <a:srgbClr val="8B5CF6"/>
          </a:solidFill>
          <a:ln w="38100">
            <a:solidFill>
              <a:srgbClr val="0B1020"/>
            </a:solidFill>
            <a:prstDash val="solid"/>
          </a:ln>
          <a:effectLst>
            <a:outerShdw blurRad="127000" dist="50800" dir="2700000" algn="bl" rotWithShape="0">
              <a:srgbClr val="8B5CF6">
                <a:alpha val="3764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0000" y="2032000"/>
            <a:ext cx="2794000" cy="14224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0000" y="21336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kern="0" spc="2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7000" y="24384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Fraud Detection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7000" y="2768600"/>
            <a:ext cx="266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anomaly detection in bidder submissions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223500" y="3429000"/>
            <a:ext cx="254000" cy="254000"/>
          </a:xfrm>
          <a:prstGeom prst="ellipse">
            <a:avLst/>
          </a:prstGeom>
          <a:solidFill>
            <a:srgbClr val="06B6D4"/>
          </a:solidFill>
          <a:ln w="38100">
            <a:solidFill>
              <a:srgbClr val="0B1020"/>
            </a:solidFill>
            <a:prstDash val="solid"/>
          </a:ln>
          <a:effectLst>
            <a:outerShdw blurRad="127000" dist="50800" dir="2700000" algn="bl" rotWithShape="0">
              <a:srgbClr val="06B6D4">
                <a:alpha val="37647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0" y="2032000"/>
            <a:ext cx="2794000" cy="14224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2133600"/>
            <a:ext cx="2768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kern="0" spc="2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71000" y="24384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ERP Integration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71000" y="2768600"/>
            <a:ext cx="266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Native connectors for SAP, Oracle, and government ERPs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017500" y="3429000"/>
            <a:ext cx="254000" cy="2540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0B1020"/>
            </a:solidFill>
            <a:prstDash val="solid"/>
          </a:ln>
          <a:effectLst>
            <a:outerShdw blurRad="127000" dist="50800" dir="2700000" algn="bl" rotWithShape="0">
              <a:srgbClr val="2563EB">
                <a:alpha val="37647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1938000" y="2032000"/>
            <a:ext cx="2794000" cy="1422400"/>
          </a:xfrm>
          <a:prstGeom prst="roundRect">
            <a:avLst>
              <a:gd name="adj" fmla="val 8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938000" y="2133600"/>
            <a:ext cx="2743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kern="0" spc="200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065000" y="24384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Intelligence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065000" y="2768600"/>
            <a:ext cx="266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 procurement outcomes and vendor performance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419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TECH STACK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48260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3775" y="5080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5" name="Text 33"/>
          <p:cNvSpPr/>
          <p:nvPr/>
        </p:nvSpPr>
        <p:spPr>
          <a:xfrm>
            <a:off x="1524000" y="4953000"/>
            <a:ext cx="17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 · CSS · JS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10000" y="48260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86225" y="5080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0" y="4953000"/>
            <a:ext cx="17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Flask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48260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4225" y="5080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1" name="Text 39"/>
          <p:cNvSpPr/>
          <p:nvPr/>
        </p:nvSpPr>
        <p:spPr>
          <a:xfrm>
            <a:off x="7620000" y="4953000"/>
            <a:ext cx="17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Supabase PG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906000" y="48260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204450" y="5080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83344" y="177800"/>
                </a:moveTo>
                <a:cubicBezTo>
                  <a:pt x="74106" y="177800"/>
                  <a:pt x="66675" y="185231"/>
                  <a:pt x="66675" y="194469"/>
                </a:cubicBezTo>
                <a:cubicBezTo>
                  <a:pt x="66675" y="203706"/>
                  <a:pt x="74106" y="211138"/>
                  <a:pt x="83344" y="211138"/>
                </a:cubicBezTo>
                <a:lnTo>
                  <a:pt x="183356" y="211138"/>
                </a:lnTo>
                <a:cubicBezTo>
                  <a:pt x="192594" y="211138"/>
                  <a:pt x="200025" y="203706"/>
                  <a:pt x="200025" y="194469"/>
                </a:cubicBezTo>
                <a:cubicBezTo>
                  <a:pt x="200025" y="185231"/>
                  <a:pt x="192594" y="177800"/>
                  <a:pt x="183356" y="177800"/>
                </a:cubicBezTo>
                <a:lnTo>
                  <a:pt x="83344" y="177800"/>
                </a:lnTo>
                <a:close/>
                <a:moveTo>
                  <a:pt x="83344" y="244475"/>
                </a:moveTo>
                <a:cubicBezTo>
                  <a:pt x="74106" y="244475"/>
                  <a:pt x="66675" y="251906"/>
                  <a:pt x="66675" y="261144"/>
                </a:cubicBezTo>
                <a:cubicBezTo>
                  <a:pt x="66675" y="270381"/>
                  <a:pt x="74106" y="277813"/>
                  <a:pt x="83344" y="277813"/>
                </a:cubicBezTo>
                <a:lnTo>
                  <a:pt x="183356" y="277813"/>
                </a:lnTo>
                <a:cubicBezTo>
                  <a:pt x="192594" y="277813"/>
                  <a:pt x="200025" y="270381"/>
                  <a:pt x="200025" y="261144"/>
                </a:cubicBezTo>
                <a:cubicBezTo>
                  <a:pt x="200025" y="251906"/>
                  <a:pt x="192594" y="244475"/>
                  <a:pt x="183356" y="244475"/>
                </a:cubicBezTo>
                <a:lnTo>
                  <a:pt x="83344" y="244475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4" name="Text 42"/>
          <p:cNvSpPr/>
          <p:nvPr/>
        </p:nvSpPr>
        <p:spPr>
          <a:xfrm>
            <a:off x="10668000" y="4953000"/>
            <a:ext cx="17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Parsing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PyPDF2 · python-docx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2954000" y="4826000"/>
            <a:ext cx="2540000" cy="1016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208000" y="508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7" name="Text 45"/>
          <p:cNvSpPr/>
          <p:nvPr/>
        </p:nvSpPr>
        <p:spPr>
          <a:xfrm>
            <a:off x="13716000" y="4953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Engine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Regex + NLP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62000" y="6350000"/>
            <a:ext cx="14732000" cy="1524000"/>
          </a:xfrm>
          <a:prstGeom prst="roundRect">
            <a:avLst>
              <a:gd name="adj" fmla="val 4000"/>
            </a:avLst>
          </a:prstGeom>
          <a:solidFill>
            <a:srgbClr val="111827">
              <a:alpha val="50196"/>
            </a:srgbClr>
          </a:solidFill>
          <a:ln w="12700">
            <a:solidFill>
              <a:srgbClr val="38BDF8">
                <a:alpha val="18824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70000" y="6540500"/>
            <a:ext cx="1371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Quorix is </a:t>
            </a: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</a:t>
            </a:r>
            <a:r>
              <a:rPr lang="en-US" sz="18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universal PDF parser. Quorix </a:t>
            </a:r>
            <a:r>
              <a:rPr lang="en-US" sz="18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</a:t>
            </a:r>
            <a:r>
              <a:rPr lang="en-US" sz="18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 AI-assisted procurement intelligence platform optimized for structured procurement and bidder-related workflows — realistic, technically credible, and enterprise-grade.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5113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/ 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8000" y="1016000"/>
            <a:ext cx="7620000" cy="7620000"/>
          </a:xfrm>
          <a:prstGeom prst="ellipse">
            <a:avLst/>
          </a:prstGeom>
          <a:gradFill flip="none" rotWithShape="1">
            <a:gsLst>
              <a:gs pos="0">
                <a:srgbClr val="2563EB">
                  <a:alpha val="8000"/>
                </a:srgbClr>
              </a:gs>
              <a:gs pos="100000">
                <a:srgbClr val="0B102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10160000" y="-1270000"/>
            <a:ext cx="7620000" cy="5080000"/>
          </a:xfrm>
          <a:prstGeom prst="ellipse">
            <a:avLst/>
          </a:prstGeom>
          <a:gradFill flip="none" rotWithShape="1">
            <a:gsLst>
              <a:gs pos="0">
                <a:srgbClr val="38BDF8">
                  <a:alpha val="6000"/>
                </a:srgbClr>
              </a:gs>
              <a:gs pos="100000">
                <a:srgbClr val="0B1020">
                  <a:alpha val="0"/>
                </a:srgbClr>
              </a:gs>
            </a:gsLst>
            <a:path path="circle"/>
          </a:gradFill>
          <a:ln/>
        </p:spPr>
      </p:sp>
      <p:pic>
        <p:nvPicPr>
          <p:cNvPr id="4" name="Image 0" descr="https://kimi-img.moonshot.cn/pub/slides/okc/k33yuzdi4iity/mnt/agents/output/quorix/images/4_Abstract_Global_Network_Visualization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11" r="11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B1020">
                  <a:alpha val="94000"/>
                </a:srgbClr>
              </a:gs>
              <a:gs pos="40000">
                <a:srgbClr val="0B1020">
                  <a:alpha val="75000"/>
                </a:srgbClr>
              </a:gs>
              <a:gs pos="100000">
                <a:srgbClr val="0B1020">
                  <a:alpha val="94000"/>
                </a:srgbClr>
              </a:gs>
            </a:gsLst>
            <a:lin ang="5400000" scaled="1"/>
          </a:gradFill>
          <a:ln/>
        </p:spPr>
      </p:sp>
      <p:sp>
        <p:nvSpPr>
          <p:cNvPr id="6" name="Shape 3"/>
          <p:cNvSpPr/>
          <p:nvPr/>
        </p:nvSpPr>
        <p:spPr>
          <a:xfrm>
            <a:off x="6858000" y="2286000"/>
            <a:ext cx="2540000" cy="38100"/>
          </a:xfrm>
          <a:prstGeom prst="rect">
            <a:avLst/>
          </a:prstGeom>
          <a:gradFill flip="none" rotWithShape="1">
            <a:gsLst>
              <a:gs pos="0">
                <a:srgbClr val="2563EB">
                  <a:alpha val="0"/>
                </a:srgbClr>
              </a:gs>
              <a:gs pos="50000">
                <a:srgbClr val="2563EB"/>
              </a:gs>
              <a:gs pos="100000">
                <a:srgbClr val="2563EB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048000" y="2667000"/>
            <a:ext cx="1016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kern="0" spc="800" dirty="0">
                <a:gradFill flip="none" rotWithShape="1">
                  <a:gsLst>
                    <a:gs pos="0">
                      <a:srgbClr val="2563EB"/>
                    </a:gs>
                    <a:gs pos="100000">
                      <a:srgbClr val="38BDF8"/>
                    </a:gs>
                  </a:gsLst>
                  <a:lin ang="5400000" scaled="1"/>
                </a:gradFill>
                <a:latin typeface="Liter" pitchFamily="34" charset="0"/>
                <a:ea typeface="Liter" pitchFamily="34" charset="-122"/>
                <a:cs typeface="Liter" pitchFamily="34" charset="-120"/>
              </a:rPr>
              <a:t>QUORIX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048000" y="419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i="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Procurement decisions should be explainable.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93000" y="5016500"/>
            <a:ext cx="1270000" cy="25400"/>
          </a:xfrm>
          <a:prstGeom prst="rect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18000" y="5334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Riya Chauhan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318000" y="5905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riyachauhan2608@gmail.com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18000" y="6604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kern="0" spc="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DECISION INTELLIGENCE FOR PROCUREMENT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113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/ 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962</Words>
  <Application>Microsoft Office PowerPoint</Application>
  <PresentationFormat>Custom</PresentationFormat>
  <Paragraphs>236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QUORIX - AI Decision Intelligence for Transparent &amp; Defensible Procurement</dc:title>
  <dc:subject>QUORIX - AI Decision Intelligence for Transparent &amp; Defensible Procurement</dc:subject>
  <dc:creator>Kimi</dc:creator>
  <cp:lastModifiedBy>riya chauhan</cp:lastModifiedBy>
  <cp:revision>2</cp:revision>
  <dcterms:created xsi:type="dcterms:W3CDTF">2026-05-06T16:35:54Z</dcterms:created>
  <dcterms:modified xsi:type="dcterms:W3CDTF">2026-05-06T16:47:00Z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{"Label":"QUORIX - AI Decision Intelligence for Transparent &amp; Defensible Procurement","ContentProducer":"001191110108MACG2KBH8F10000","ProduceID":"19dfe1e5-7872-8c97-8000-0000949059dd","ReservedCode1":"","ContentPropagator":"001191110108MACG2KBH8F20000","PropagateID":"19dfe1e5-7872-8c97-8000-0000949059dd","ReservedCode2":""}</vt:lpwstr>
  </property>
</Properties>
</file>